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7" r:id="rId5"/>
    <p:sldId id="264" r:id="rId6"/>
    <p:sldId id="262" r:id="rId7"/>
    <p:sldId id="270" r:id="rId8"/>
    <p:sldId id="265" r:id="rId9"/>
    <p:sldId id="267" r:id="rId10"/>
    <p:sldId id="269" r:id="rId11"/>
    <p:sldId id="281" r:id="rId12"/>
    <p:sldId id="282" r:id="rId13"/>
    <p:sldId id="279" r:id="rId14"/>
  </p:sldIdLst>
  <p:sldSz cx="12192000" cy="6858000"/>
  <p:notesSz cx="6858000" cy="9144000"/>
  <p:embeddedFontLst>
    <p:embeddedFont>
      <p:font typeface="Glyphter" panose="02000503000000000000" pitchFamily="49" charset="0"/>
      <p:regular r:id="rId17"/>
    </p:embeddedFont>
    <p:embeddedFont>
      <p:font typeface="Quicksand" pitchFamily="2" charset="77"/>
      <p:regular r:id="rId18"/>
      <p:bold r:id="rId19"/>
    </p:embeddedFont>
    <p:embeddedFont>
      <p:font typeface="Roboto" panose="02000000000000000000" pitchFamily="2" charset="0"/>
      <p:regular r:id="rId20"/>
      <p:bold r:id="rId21"/>
      <p:italic r:id="rId22"/>
      <p:boldItalic r:id="rId23"/>
    </p:embeddedFont>
    <p:embeddedFont>
      <p:font typeface="Roboto Medium" panose="02000000000000000000" pitchFamily="2" charset="0"/>
      <p:regular r:id="rId24"/>
      <p:italic r:id="rId25"/>
    </p:embeddedFont>
  </p:embeddedFontLst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051"/>
    <a:srgbClr val="FF40FF"/>
    <a:srgbClr val="FFD579"/>
    <a:srgbClr val="FF9300"/>
    <a:srgbClr val="0086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72" autoAdjust="0"/>
    <p:restoredTop sz="94658"/>
  </p:normalViewPr>
  <p:slideViewPr>
    <p:cSldViewPr snapToGrid="0">
      <p:cViewPr varScale="1">
        <p:scale>
          <a:sx n="97" d="100"/>
          <a:sy n="97" d="100"/>
        </p:scale>
        <p:origin x="224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8" d="100"/>
          <a:sy n="118" d="100"/>
        </p:scale>
        <p:origin x="500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8.fntdata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CFC1A321-22CB-DEA7-E5E8-B4A79C39E8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58570128-3D26-58DF-3D0A-CB00118351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B00CD9-D39B-4600-9C3E-8CF0197F5D83}" type="datetime4">
              <a:rPr lang="cs-CZ" smtClean="0"/>
              <a:t>9. června 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1A278167-ACFA-8365-6969-3F13DE5A44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cs-CZ"/>
              <a:t>Název prezentace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9E949DCD-195A-4813-751F-1EAF4BF6DC9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2B516-FD76-4CB3-BAA6-F772BEDA203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27025711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4C8EE8-AAF6-48AB-BE2E-E03BD44C148F}" type="datetime4">
              <a:rPr lang="cs-CZ" smtClean="0"/>
              <a:t>9. června 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cs-CZ"/>
              <a:t>Název prezentace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65BD10-6A1F-41DC-8AC5-2CF733DD1FF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17235541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Common thread: A researcher just handed you a CSV. By end of Day 2, you'll have turned it into a documented, validated, deposit-ready package - using JupyterLab + an AI assistant + a Python toolbelt.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74C8EE8-AAF6-48AB-BE2E-E03BD44C148F}" type="datetime4">
              <a:rPr lang="cs-CZ" smtClean="0"/>
              <a:t>9. června 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cs-CZ"/>
              <a:t>Název prezentace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5BD10-6A1F-41DC-8AC5-2CF733DD1FF2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3565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D127F-2E46-8D84-31C3-51B31D57F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54CCE5-3BF2-FCF6-68FD-FC81BEAD6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0552F2-5D18-AD7E-2CC8-58564C9DFF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Common thread: A researcher just handed you a CSV. By end of Day 2, you'll have turned it into a documented, validated, deposit-ready package - using JupyterLab + an AI assistant + a Python toolbelt.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AE1A0-D803-1DFB-972B-44E314987F2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74C8EE8-AAF6-48AB-BE2E-E03BD44C148F}" type="datetime4">
              <a:rPr lang="cs-CZ" smtClean="0"/>
              <a:t>9. června 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2B7C0-14CE-ADD8-6500-FD558587C84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cs-CZ"/>
              <a:t>Název prezentace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D3E2C-9F44-D15C-CD20-E7B85CF606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5BD10-6A1F-41DC-8AC5-2CF733DD1FF2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3154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The sessions are designed to work from "never used Python" upwards. If you're more advanced, you'll find optional "stretch" prompts in the notebooks - feel free to take those instead.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74C8EE8-AAF6-48AB-BE2E-E03BD44C148F}" type="datetime4">
              <a:rPr lang="cs-CZ" smtClean="0"/>
              <a:t>9. června 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cs-CZ"/>
              <a:t>Název prezentace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5BD10-6A1F-41DC-8AC5-2CF733DD1FF2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8448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creativecommons.org/licenses/by/4.0/" TargetMode="Externa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hyperlink" Target="https://creativecommons.org/licenses/by/4.0/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" TargetMode="External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í snímek_mod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>
            <a:extLst>
              <a:ext uri="{FF2B5EF4-FFF2-40B4-BE49-F238E27FC236}">
                <a16:creationId xmlns:a16="http://schemas.microsoft.com/office/drawing/2014/main" id="{D3663C63-E224-9971-25F4-C18780340A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70679" y="-39757"/>
            <a:ext cx="12347493" cy="6945465"/>
          </a:xfrm>
          <a:prstGeom prst="rect">
            <a:avLst/>
          </a:prstGeom>
          <a:solidFill>
            <a:srgbClr val="0086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9F7EC980-8746-8E67-A7B2-1CE72F3D6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85" y="173206"/>
            <a:ext cx="2843900" cy="584926"/>
          </a:xfrm>
          <a:prstGeom prst="rect">
            <a:avLst/>
          </a:prstGeom>
        </p:spPr>
      </p:pic>
      <p:pic>
        <p:nvPicPr>
          <p:cNvPr id="9" name="Obrázek 8" descr="Obsah obrázku skica, kruh, Grafika, kresba&#10;&#10;Popis byl vytvořen automaticky">
            <a:extLst>
              <a:ext uri="{FF2B5EF4-FFF2-40B4-BE49-F238E27FC236}">
                <a16:creationId xmlns:a16="http://schemas.microsoft.com/office/drawing/2014/main" id="{501E66A7-7224-720E-EFD9-ED51349D7B4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1550" y="3204114"/>
            <a:ext cx="5579671" cy="3111044"/>
          </a:xfrm>
          <a:prstGeom prst="rect">
            <a:avLst/>
          </a:prstGeom>
        </p:spPr>
      </p:pic>
      <p:sp>
        <p:nvSpPr>
          <p:cNvPr id="10" name="Nadpis 1">
            <a:extLst>
              <a:ext uri="{FF2B5EF4-FFF2-40B4-BE49-F238E27FC236}">
                <a16:creationId xmlns:a16="http://schemas.microsoft.com/office/drawing/2014/main" id="{EC7399E0-2F62-6456-DF96-9EDD8564880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0520" y="1122363"/>
            <a:ext cx="10317480" cy="2387600"/>
          </a:xfrm>
          <a:prstGeom prst="rect">
            <a:avLst/>
          </a:prstGeo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  <a:latin typeface="Quicksand" pitchFamily="2" charset="-18"/>
              </a:defRPr>
            </a:lvl1pPr>
          </a:lstStyle>
          <a:p>
            <a:r>
              <a:rPr lang="en-US" noProof="1"/>
              <a:t>Název</a:t>
            </a:r>
          </a:p>
        </p:txBody>
      </p:sp>
      <p:sp>
        <p:nvSpPr>
          <p:cNvPr id="11" name="Podnadpis 2">
            <a:extLst>
              <a:ext uri="{FF2B5EF4-FFF2-40B4-BE49-F238E27FC236}">
                <a16:creationId xmlns:a16="http://schemas.microsoft.com/office/drawing/2014/main" id="{17FE6420-BC78-69B7-2A56-6D20BDD1CB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520" y="3602038"/>
            <a:ext cx="1031748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Quicksand" pitchFamily="2" charset="-1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1"/>
              <a:t>Click to edit Master subtitle style</a:t>
            </a:r>
          </a:p>
        </p:txBody>
      </p:sp>
      <p:grpSp>
        <p:nvGrpSpPr>
          <p:cNvPr id="2" name="Skupina 1">
            <a:extLst>
              <a:ext uri="{FF2B5EF4-FFF2-40B4-BE49-F238E27FC236}">
                <a16:creationId xmlns:a16="http://schemas.microsoft.com/office/drawing/2014/main" id="{B000A6FA-D684-B539-C0CD-8030089B6907}"/>
              </a:ext>
            </a:extLst>
          </p:cNvPr>
          <p:cNvGrpSpPr/>
          <p:nvPr userDrawn="1"/>
        </p:nvGrpSpPr>
        <p:grpSpPr>
          <a:xfrm>
            <a:off x="5657665" y="6295602"/>
            <a:ext cx="876671" cy="279182"/>
            <a:chOff x="5657665" y="6319048"/>
            <a:chExt cx="876671" cy="279182"/>
          </a:xfrm>
        </p:grpSpPr>
        <p:pic>
          <p:nvPicPr>
            <p:cNvPr id="4" name="by-2-uprava_pro_EOSC_CZ.png" descr="by-2-uprava_pro_EOSC_CZ.png">
              <a:hlinkClick r:id="rId4"/>
              <a:extLst>
                <a:ext uri="{FF2B5EF4-FFF2-40B4-BE49-F238E27FC236}">
                  <a16:creationId xmlns:a16="http://schemas.microsoft.com/office/drawing/2014/main" id="{8FC83ECB-36AB-F5FB-DBD1-72F83DA87E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57665" y="6319048"/>
              <a:ext cx="269241" cy="269241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6" name="CC BY">
              <a:extLst>
                <a:ext uri="{FF2B5EF4-FFF2-40B4-BE49-F238E27FC236}">
                  <a16:creationId xmlns:a16="http://schemas.microsoft.com/office/drawing/2014/main" id="{3C4CA24E-C6C0-C38A-57FB-8BCB88CEF559}"/>
                </a:ext>
              </a:extLst>
            </p:cNvPr>
            <p:cNvSpPr txBox="1"/>
            <p:nvPr/>
          </p:nvSpPr>
          <p:spPr>
            <a:xfrm>
              <a:off x="5972325" y="6321231"/>
              <a:ext cx="562011" cy="2769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45719" rIns="45719">
              <a:spAutoFit/>
            </a:bodyPr>
            <a:lstStyle>
              <a:lvl1pPr>
                <a:defRPr sz="1200">
                  <a:solidFill>
                    <a:srgbClr val="FFFFFF"/>
                  </a:solidFill>
                  <a:latin typeface="Roboto Regular Light"/>
                  <a:ea typeface="Roboto Regular Light"/>
                  <a:cs typeface="Roboto Regular Light"/>
                  <a:sym typeface="Roboto Regular Light"/>
                </a:defRPr>
              </a:lvl1pPr>
            </a:lstStyle>
            <a:p>
              <a:r>
                <a:rPr lang="en-US" noProof="1">
                  <a:solidFill>
                    <a:schemeClr val="bg1"/>
                  </a:solidFill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CC BY</a:t>
              </a:r>
              <a:endParaRPr lang="en-US" noProof="1">
                <a:solidFill>
                  <a:schemeClr val="bg1"/>
                </a:solidFill>
              </a:endParaRPr>
            </a:p>
          </p:txBody>
        </p:sp>
      </p:grpSp>
      <p:pic>
        <p:nvPicPr>
          <p:cNvPr id="8" name="Obrázek 7" descr="Obsah obrázku text, Písmo, snímek obrazovky, černá&#10;&#10;Obsah generovaný pomocí AI může být nesprávný.">
            <a:extLst>
              <a:ext uri="{FF2B5EF4-FFF2-40B4-BE49-F238E27FC236}">
                <a16:creationId xmlns:a16="http://schemas.microsoft.com/office/drawing/2014/main" id="{F690F909-E04C-6A40-01AE-54D32D216FA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" y="6216630"/>
            <a:ext cx="3668516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937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í snímek_se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34197B97-00D5-7578-467B-4E4DEB8D80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70679" y="-39757"/>
            <a:ext cx="12347493" cy="6945465"/>
          </a:xfrm>
          <a:prstGeom prst="rect">
            <a:avLst/>
          </a:prstGeom>
          <a:solidFill>
            <a:srgbClr val="E4E4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>
              <a:solidFill>
                <a:srgbClr val="008691"/>
              </a:solidFill>
            </a:endParaRPr>
          </a:p>
        </p:txBody>
      </p:sp>
      <p:sp>
        <p:nvSpPr>
          <p:cNvPr id="10" name="Nadpis 1">
            <a:extLst>
              <a:ext uri="{FF2B5EF4-FFF2-40B4-BE49-F238E27FC236}">
                <a16:creationId xmlns:a16="http://schemas.microsoft.com/office/drawing/2014/main" id="{EC7399E0-2F62-6456-DF96-9EDD8564880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0520" y="1122363"/>
            <a:ext cx="10317480" cy="2387600"/>
          </a:xfrm>
          <a:prstGeom prst="rect">
            <a:avLst/>
          </a:prstGeom>
        </p:spPr>
        <p:txBody>
          <a:bodyPr anchor="b"/>
          <a:lstStyle>
            <a:lvl1pPr algn="l">
              <a:defRPr sz="6000">
                <a:solidFill>
                  <a:srgbClr val="008691"/>
                </a:solidFill>
                <a:latin typeface="Quicksand" pitchFamily="2" charset="-18"/>
              </a:defRPr>
            </a:lvl1pPr>
          </a:lstStyle>
          <a:p>
            <a:r>
              <a:rPr lang="en-US" noProof="1"/>
              <a:t>Název</a:t>
            </a:r>
          </a:p>
        </p:txBody>
      </p:sp>
      <p:sp>
        <p:nvSpPr>
          <p:cNvPr id="11" name="Podnadpis 2">
            <a:extLst>
              <a:ext uri="{FF2B5EF4-FFF2-40B4-BE49-F238E27FC236}">
                <a16:creationId xmlns:a16="http://schemas.microsoft.com/office/drawing/2014/main" id="{17FE6420-BC78-69B7-2A56-6D20BDD1CB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520" y="3602038"/>
            <a:ext cx="1031748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008691"/>
                </a:solidFill>
                <a:latin typeface="Quicksand" pitchFamily="2" charset="-1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1"/>
              <a:t>Click to edit Master subtitle style</a:t>
            </a:r>
          </a:p>
        </p:txBody>
      </p:sp>
      <p:pic>
        <p:nvPicPr>
          <p:cNvPr id="4" name="Zástupný obsah 13" descr="Obsah obrázku Grafika, kruh, skica, umění&#10;&#10;Popis byl vytvořen automaticky">
            <a:extLst>
              <a:ext uri="{FF2B5EF4-FFF2-40B4-BE49-F238E27FC236}">
                <a16:creationId xmlns:a16="http://schemas.microsoft.com/office/drawing/2014/main" id="{0F34AF73-CDF6-4C2A-6F41-85C33D96B44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1550" y="3204114"/>
            <a:ext cx="5580172" cy="3111044"/>
          </a:xfrm>
          <a:prstGeom prst="rect">
            <a:avLst/>
          </a:prstGeom>
        </p:spPr>
      </p:pic>
      <p:pic>
        <p:nvPicPr>
          <p:cNvPr id="3" name="Obrázek 2">
            <a:extLst>
              <a:ext uri="{FF2B5EF4-FFF2-40B4-BE49-F238E27FC236}">
                <a16:creationId xmlns:a16="http://schemas.microsoft.com/office/drawing/2014/main" id="{B8C80A43-FA43-6B96-8132-7EEF501CEDD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379" y="176667"/>
            <a:ext cx="2855506" cy="578004"/>
          </a:xfrm>
          <a:prstGeom prst="rect">
            <a:avLst/>
          </a:prstGeom>
        </p:spPr>
      </p:pic>
      <p:grpSp>
        <p:nvGrpSpPr>
          <p:cNvPr id="5" name="Skupina 4">
            <a:extLst>
              <a:ext uri="{FF2B5EF4-FFF2-40B4-BE49-F238E27FC236}">
                <a16:creationId xmlns:a16="http://schemas.microsoft.com/office/drawing/2014/main" id="{DD6F553D-8D3D-CC46-7D45-4D6D80589655}"/>
              </a:ext>
            </a:extLst>
          </p:cNvPr>
          <p:cNvGrpSpPr/>
          <p:nvPr userDrawn="1"/>
        </p:nvGrpSpPr>
        <p:grpSpPr>
          <a:xfrm>
            <a:off x="5657665" y="6295602"/>
            <a:ext cx="876671" cy="279182"/>
            <a:chOff x="5657665" y="6295602"/>
            <a:chExt cx="876671" cy="279182"/>
          </a:xfrm>
        </p:grpSpPr>
        <p:pic>
          <p:nvPicPr>
            <p:cNvPr id="6" name="by-2-uprava_pro_EOSC_CZ.png">
              <a:hlinkClick r:id="rId4"/>
              <a:extLst>
                <a:ext uri="{FF2B5EF4-FFF2-40B4-BE49-F238E27FC236}">
                  <a16:creationId xmlns:a16="http://schemas.microsoft.com/office/drawing/2014/main" id="{1AE3A342-58FD-9FE7-B2DC-11ED33C6A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657665" y="6295602"/>
              <a:ext cx="269241" cy="269241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7" name="CC BY">
              <a:extLst>
                <a:ext uri="{FF2B5EF4-FFF2-40B4-BE49-F238E27FC236}">
                  <a16:creationId xmlns:a16="http://schemas.microsoft.com/office/drawing/2014/main" id="{89CAEB92-CDC4-B859-9D28-7D43337AD42D}"/>
                </a:ext>
              </a:extLst>
            </p:cNvPr>
            <p:cNvSpPr txBox="1"/>
            <p:nvPr/>
          </p:nvSpPr>
          <p:spPr>
            <a:xfrm>
              <a:off x="5972325" y="6297785"/>
              <a:ext cx="562011" cy="2769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45719" rIns="45719">
              <a:spAutoFit/>
            </a:bodyPr>
            <a:lstStyle>
              <a:lvl1pPr>
                <a:defRPr sz="1200">
                  <a:solidFill>
                    <a:srgbClr val="FFFFFF"/>
                  </a:solidFill>
                  <a:latin typeface="Roboto Regular Light"/>
                  <a:ea typeface="Roboto Regular Light"/>
                  <a:cs typeface="Roboto Regular Light"/>
                  <a:sym typeface="Roboto Regular Light"/>
                </a:defRPr>
              </a:lvl1pPr>
            </a:lstStyle>
            <a:p>
              <a:r>
                <a:rPr lang="en-US" noProof="1">
                  <a:solidFill>
                    <a:srgbClr val="008691"/>
                  </a:solidFill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CC BY</a:t>
              </a:r>
              <a:endParaRPr lang="en-US" noProof="1">
                <a:solidFill>
                  <a:srgbClr val="008691"/>
                </a:solidFill>
              </a:endParaRPr>
            </a:p>
          </p:txBody>
        </p:sp>
      </p:grpSp>
      <p:pic>
        <p:nvPicPr>
          <p:cNvPr id="9" name="Obrázek 8" descr="Obsah obrázku text, snímek obrazovky, Písmo, Grafika&#10;&#10;Obsah generovaný pomocí AI může být nesprávný.">
            <a:extLst>
              <a:ext uri="{FF2B5EF4-FFF2-40B4-BE49-F238E27FC236}">
                <a16:creationId xmlns:a16="http://schemas.microsoft.com/office/drawing/2014/main" id="{E8411C16-D490-2F7F-09A7-FB3F500FCB4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2" y="6216826"/>
            <a:ext cx="3615677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40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 a obsah_twinfin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0368394-7AF1-3132-0F31-8480895F6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B06B-36ED-4173-BB9C-0A7D5536228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Nadpis 1">
            <a:extLst>
              <a:ext uri="{FF2B5EF4-FFF2-40B4-BE49-F238E27FC236}">
                <a16:creationId xmlns:a16="http://schemas.microsoft.com/office/drawing/2014/main" id="{D6E9D2F7-E67A-ED93-C050-4B23786955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520" y="954157"/>
            <a:ext cx="11003280" cy="1264257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rgbClr val="008691"/>
                </a:solidFill>
                <a:latin typeface="Quicksand" pitchFamily="2" charset="-18"/>
              </a:defRPr>
            </a:lvl1pPr>
          </a:lstStyle>
          <a:p>
            <a:r>
              <a:rPr lang="en-US" dirty="0" err="1"/>
              <a:t>Název</a:t>
            </a:r>
            <a:endParaRPr lang="en-US" dirty="0"/>
          </a:p>
        </p:txBody>
      </p:sp>
      <p:sp>
        <p:nvSpPr>
          <p:cNvPr id="10" name="Zástupný obsah 2">
            <a:extLst>
              <a:ext uri="{FF2B5EF4-FFF2-40B4-BE49-F238E27FC236}">
                <a16:creationId xmlns:a16="http://schemas.microsoft.com/office/drawing/2014/main" id="{96050996-159F-0AAD-4533-E82AF20E6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520" y="2308859"/>
            <a:ext cx="11003280" cy="38681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Zástupný obsah 13" descr="Obsah obrázku Grafika, kruh, skica, umění&#10;&#10;Popis byl vytvořen automaticky">
            <a:extLst>
              <a:ext uri="{FF2B5EF4-FFF2-40B4-BE49-F238E27FC236}">
                <a16:creationId xmlns:a16="http://schemas.microsoft.com/office/drawing/2014/main" id="{F07133BC-B225-382D-4212-9E2837D6227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388" y="3725762"/>
            <a:ext cx="4557514" cy="2540894"/>
          </a:xfrm>
          <a:prstGeom prst="rect">
            <a:avLst/>
          </a:prstGeom>
        </p:spPr>
      </p:pic>
      <p:pic>
        <p:nvPicPr>
          <p:cNvPr id="2" name="Obrázek 1">
            <a:extLst>
              <a:ext uri="{FF2B5EF4-FFF2-40B4-BE49-F238E27FC236}">
                <a16:creationId xmlns:a16="http://schemas.microsoft.com/office/drawing/2014/main" id="{F7F8970B-6558-86A3-C504-28AEC639C41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379" y="176667"/>
            <a:ext cx="2855506" cy="578004"/>
          </a:xfrm>
          <a:prstGeom prst="rect">
            <a:avLst/>
          </a:prstGeom>
        </p:spPr>
      </p:pic>
      <p:sp>
        <p:nvSpPr>
          <p:cNvPr id="3" name="Zástupný symbol pro datum 3">
            <a:extLst>
              <a:ext uri="{FF2B5EF4-FFF2-40B4-BE49-F238E27FC236}">
                <a16:creationId xmlns:a16="http://schemas.microsoft.com/office/drawing/2014/main" id="{7CCA5B4B-6947-EEAE-3792-28266F8881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9741" y="6356349"/>
            <a:ext cx="21913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23. April 2026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A3565FD-58CF-527C-2369-3F98D76C40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57283" y="6356349"/>
            <a:ext cx="68733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noProof="1"/>
              <a:t>EOSC CZ Summer School for Data Stewards 2026</a:t>
            </a:r>
            <a:br>
              <a:rPr lang="en-US" noProof="1"/>
            </a:br>
            <a:r>
              <a:rPr lang="en-US" noProof="1"/>
              <a:t>Python Toolbelt for Data Stewards in JupyterLab</a:t>
            </a:r>
          </a:p>
        </p:txBody>
      </p:sp>
    </p:spTree>
    <p:extLst>
      <p:ext uri="{BB962C8B-B14F-4D97-AF65-F5344CB8AC3E}">
        <p14:creationId xmlns:p14="http://schemas.microsoft.com/office/powerpoint/2010/main" val="2241290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0368394-7AF1-3132-0F31-8480895F6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B06B-36ED-4173-BB9C-0A7D5536228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Nadpis 1">
            <a:extLst>
              <a:ext uri="{FF2B5EF4-FFF2-40B4-BE49-F238E27FC236}">
                <a16:creationId xmlns:a16="http://schemas.microsoft.com/office/drawing/2014/main" id="{D6E9D2F7-E67A-ED93-C050-4B23786955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520" y="954157"/>
            <a:ext cx="11003280" cy="1264257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rgbClr val="008691"/>
                </a:solidFill>
                <a:latin typeface="Quicksand" pitchFamily="2" charset="-18"/>
              </a:defRPr>
            </a:lvl1pPr>
          </a:lstStyle>
          <a:p>
            <a:r>
              <a:rPr lang="en-US" dirty="0" err="1"/>
              <a:t>Název</a:t>
            </a:r>
            <a:endParaRPr lang="en-US" dirty="0"/>
          </a:p>
        </p:txBody>
      </p:sp>
      <p:sp>
        <p:nvSpPr>
          <p:cNvPr id="10" name="Zástupný obsah 2">
            <a:extLst>
              <a:ext uri="{FF2B5EF4-FFF2-40B4-BE49-F238E27FC236}">
                <a16:creationId xmlns:a16="http://schemas.microsoft.com/office/drawing/2014/main" id="{96050996-159F-0AAD-4533-E82AF20E6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520" y="2308859"/>
            <a:ext cx="11003280" cy="38681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990E833E-7596-6B57-BD82-BE855126D7D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379" y="176667"/>
            <a:ext cx="2855506" cy="578004"/>
          </a:xfrm>
          <a:prstGeom prst="rect">
            <a:avLst/>
          </a:prstGeom>
        </p:spPr>
      </p:pic>
      <p:sp>
        <p:nvSpPr>
          <p:cNvPr id="3" name="Zástupný symbol pro datum 3">
            <a:extLst>
              <a:ext uri="{FF2B5EF4-FFF2-40B4-BE49-F238E27FC236}">
                <a16:creationId xmlns:a16="http://schemas.microsoft.com/office/drawing/2014/main" id="{77D35C4B-9AE6-3456-7E93-C5DF093570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9741" y="6356349"/>
            <a:ext cx="21913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23. April 2026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412DF14-6E04-B75B-F73A-1E92F3B547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57283" y="6356349"/>
            <a:ext cx="68733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noProof="1"/>
              <a:t>EOSC CZ Summer School for Data Stewards 2026</a:t>
            </a:r>
            <a:br>
              <a:rPr lang="en-US" noProof="1"/>
            </a:br>
            <a:r>
              <a:rPr lang="en-US" noProof="1"/>
              <a:t>Python Toolbelt for Data Stewards in JupyterLab</a:t>
            </a:r>
          </a:p>
        </p:txBody>
      </p:sp>
    </p:spTree>
    <p:extLst>
      <p:ext uri="{BB962C8B-B14F-4D97-AF65-F5344CB8AC3E}">
        <p14:creationId xmlns:p14="http://schemas.microsoft.com/office/powerpoint/2010/main" val="3143557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va obsahy_mod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élník 7">
            <a:extLst>
              <a:ext uri="{FF2B5EF4-FFF2-40B4-BE49-F238E27FC236}">
                <a16:creationId xmlns:a16="http://schemas.microsoft.com/office/drawing/2014/main" id="{A7452CEA-2582-14D3-825E-6AF766492D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86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Nadpis 1">
            <a:extLst>
              <a:ext uri="{FF2B5EF4-FFF2-40B4-BE49-F238E27FC236}">
                <a16:creationId xmlns:a16="http://schemas.microsoft.com/office/drawing/2014/main" id="{EE029DC5-42FF-EB0D-A618-904AC1D057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520" y="954157"/>
            <a:ext cx="11003280" cy="1264257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bg1"/>
                </a:solidFill>
                <a:latin typeface="Quicksand" pitchFamily="2" charset="-18"/>
              </a:defRPr>
            </a:lvl1pPr>
          </a:lstStyle>
          <a:p>
            <a:r>
              <a:rPr lang="en-US" dirty="0" err="1"/>
              <a:t>Název</a:t>
            </a:r>
            <a:endParaRPr lang="en-US" dirty="0"/>
          </a:p>
        </p:txBody>
      </p:sp>
      <p:sp>
        <p:nvSpPr>
          <p:cNvPr id="17" name="Zástupný obsah 2">
            <a:extLst>
              <a:ext uri="{FF2B5EF4-FFF2-40B4-BE49-F238E27FC236}">
                <a16:creationId xmlns:a16="http://schemas.microsoft.com/office/drawing/2014/main" id="{5B0DA878-FD5C-8936-50E2-9F0D97121E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0520" y="2276475"/>
            <a:ext cx="5400000" cy="39004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2pPr>
            <a:lvl3pPr>
              <a:defRPr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3pPr>
            <a:lvl4pPr>
              <a:defRPr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4pPr>
            <a:lvl5pPr>
              <a:defRPr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Zástupný obsah 3">
            <a:extLst>
              <a:ext uri="{FF2B5EF4-FFF2-40B4-BE49-F238E27FC236}">
                <a16:creationId xmlns:a16="http://schemas.microsoft.com/office/drawing/2014/main" id="{FF7C2F41-5440-BEEC-10A3-2CA41A4ED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53800" y="2276476"/>
            <a:ext cx="5400000" cy="39004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2pPr>
            <a:lvl3pPr>
              <a:defRPr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3pPr>
            <a:lvl4pPr>
              <a:defRPr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4pPr>
            <a:lvl5pPr>
              <a:defRPr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C31EEF7B-7E09-88E6-7970-F16A03C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85" y="173206"/>
            <a:ext cx="2843900" cy="584926"/>
          </a:xfrm>
          <a:prstGeom prst="rect">
            <a:avLst/>
          </a:prstGeom>
        </p:spPr>
      </p:pic>
      <p:sp>
        <p:nvSpPr>
          <p:cNvPr id="14" name="Zástupný symbol pro číslo snímku 5">
            <a:extLst>
              <a:ext uri="{FF2B5EF4-FFF2-40B4-BE49-F238E27FC236}">
                <a16:creationId xmlns:a16="http://schemas.microsoft.com/office/drawing/2014/main" id="{98E60916-DA80-C443-544D-5DC8A3F9D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20870" y="6356349"/>
            <a:ext cx="21913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81BEB06B-36ED-4173-BB9C-0A7D553622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Zástupný symbol pro datum 3">
            <a:extLst>
              <a:ext uri="{FF2B5EF4-FFF2-40B4-BE49-F238E27FC236}">
                <a16:creationId xmlns:a16="http://schemas.microsoft.com/office/drawing/2014/main" id="{7C163BDD-ADF0-B9A8-A20E-46350C46D1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9741" y="6356349"/>
            <a:ext cx="21913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23. April 2026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41D6E26-F8BF-59D4-19BB-0D41A0506A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57283" y="6356349"/>
            <a:ext cx="68733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noProof="1"/>
              <a:t>EOSC CZ Summer School for Data Stewards 2026</a:t>
            </a:r>
            <a:br>
              <a:rPr lang="en-US" noProof="1"/>
            </a:br>
            <a:r>
              <a:rPr lang="en-US" noProof="1"/>
              <a:t>Python Toolbelt for Data Stewards in JupyterLab</a:t>
            </a:r>
          </a:p>
        </p:txBody>
      </p:sp>
    </p:spTree>
    <p:extLst>
      <p:ext uri="{BB962C8B-B14F-4D97-AF65-F5344CB8AC3E}">
        <p14:creationId xmlns:p14="http://schemas.microsoft.com/office/powerpoint/2010/main" val="3883295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Nadpis 1">
            <a:extLst>
              <a:ext uri="{FF2B5EF4-FFF2-40B4-BE49-F238E27FC236}">
                <a16:creationId xmlns:a16="http://schemas.microsoft.com/office/drawing/2014/main" id="{EE029DC5-42FF-EB0D-A618-904AC1D057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520" y="954157"/>
            <a:ext cx="11003280" cy="1264257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rgbClr val="008691"/>
                </a:solidFill>
                <a:latin typeface="Quicksand" pitchFamily="2" charset="-18"/>
              </a:defRPr>
            </a:lvl1pPr>
          </a:lstStyle>
          <a:p>
            <a:r>
              <a:rPr lang="en-US" dirty="0" err="1"/>
              <a:t>Název</a:t>
            </a:r>
            <a:endParaRPr lang="en-US" dirty="0"/>
          </a:p>
        </p:txBody>
      </p:sp>
      <p:sp>
        <p:nvSpPr>
          <p:cNvPr id="17" name="Zástupný obsah 2">
            <a:extLst>
              <a:ext uri="{FF2B5EF4-FFF2-40B4-BE49-F238E27FC236}">
                <a16:creationId xmlns:a16="http://schemas.microsoft.com/office/drawing/2014/main" id="{5B0DA878-FD5C-8936-50E2-9F0D97121E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0520" y="2276475"/>
            <a:ext cx="5400000" cy="39004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>
              <a:defRPr>
                <a:solidFill>
                  <a:schemeClr val="tx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2pPr>
            <a:lvl3pPr>
              <a:defRPr>
                <a:solidFill>
                  <a:schemeClr val="tx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3pPr>
            <a:lvl4pPr>
              <a:defRPr>
                <a:solidFill>
                  <a:schemeClr val="tx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4pPr>
            <a:lvl5pPr>
              <a:defRPr>
                <a:solidFill>
                  <a:schemeClr val="tx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Zástupný obsah 3">
            <a:extLst>
              <a:ext uri="{FF2B5EF4-FFF2-40B4-BE49-F238E27FC236}">
                <a16:creationId xmlns:a16="http://schemas.microsoft.com/office/drawing/2014/main" id="{FF7C2F41-5440-BEEC-10A3-2CA41A4ED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53800" y="2276476"/>
            <a:ext cx="5400000" cy="39004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>
              <a:defRPr>
                <a:solidFill>
                  <a:schemeClr val="tx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2pPr>
            <a:lvl3pPr>
              <a:defRPr>
                <a:solidFill>
                  <a:schemeClr val="tx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3pPr>
            <a:lvl4pPr>
              <a:defRPr>
                <a:solidFill>
                  <a:schemeClr val="tx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4pPr>
            <a:lvl5pPr>
              <a:defRPr>
                <a:solidFill>
                  <a:schemeClr val="tx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1D010AD4-036A-1835-01C8-33B22DD7935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379" y="176667"/>
            <a:ext cx="2855506" cy="578004"/>
          </a:xfrm>
          <a:prstGeom prst="rect">
            <a:avLst/>
          </a:prstGeom>
        </p:spPr>
      </p:pic>
      <p:sp>
        <p:nvSpPr>
          <p:cNvPr id="8" name="Zástupný symbol pro číslo snímku 5">
            <a:extLst>
              <a:ext uri="{FF2B5EF4-FFF2-40B4-BE49-F238E27FC236}">
                <a16:creationId xmlns:a16="http://schemas.microsoft.com/office/drawing/2014/main" id="{8F01BF90-CFE1-840F-E2A0-623BE505CB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20870" y="6356349"/>
            <a:ext cx="21913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1BEB06B-36ED-4173-BB9C-0A7D553622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Zástupný symbol pro datum 3">
            <a:extLst>
              <a:ext uri="{FF2B5EF4-FFF2-40B4-BE49-F238E27FC236}">
                <a16:creationId xmlns:a16="http://schemas.microsoft.com/office/drawing/2014/main" id="{CD89D04A-B513-5405-68DC-62A0C70DA5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9741" y="6356349"/>
            <a:ext cx="21913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23. April 2026</a:t>
            </a:r>
          </a:p>
        </p:txBody>
      </p:sp>
      <p:sp>
        <p:nvSpPr>
          <p:cNvPr id="4" name="Zástupný symbol pro zápatí 4">
            <a:extLst>
              <a:ext uri="{FF2B5EF4-FFF2-40B4-BE49-F238E27FC236}">
                <a16:creationId xmlns:a16="http://schemas.microsoft.com/office/drawing/2014/main" id="{A812C1BD-9D89-A5C7-4872-373FABA232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57283" y="6356349"/>
            <a:ext cx="68733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noProof="1"/>
              <a:t>EOSC CZ Summer School for Data Stewards 2026</a:t>
            </a:r>
            <a:br>
              <a:rPr lang="en-US" noProof="1"/>
            </a:br>
            <a:r>
              <a:rPr lang="en-US" noProof="1"/>
              <a:t>Python Toolbelt for Data Stewards in JupyterLab</a:t>
            </a:r>
          </a:p>
        </p:txBody>
      </p:sp>
    </p:spTree>
    <p:extLst>
      <p:ext uri="{BB962C8B-B14F-4D97-AF65-F5344CB8AC3E}">
        <p14:creationId xmlns:p14="http://schemas.microsoft.com/office/powerpoint/2010/main" val="1418961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enom nadpis_twinfin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11960B07-1828-9841-DA3D-B9941E90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B06B-36ED-4173-BB9C-0A7D5536228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Nadpis 1">
            <a:extLst>
              <a:ext uri="{FF2B5EF4-FFF2-40B4-BE49-F238E27FC236}">
                <a16:creationId xmlns:a16="http://schemas.microsoft.com/office/drawing/2014/main" id="{0ADF6101-CF52-B70F-45D8-B5BC998B1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520" y="954157"/>
            <a:ext cx="11003280" cy="1264257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rgbClr val="008691"/>
                </a:solidFill>
                <a:latin typeface="Quicksand" pitchFamily="2" charset="-18"/>
              </a:defRPr>
            </a:lvl1pPr>
          </a:lstStyle>
          <a:p>
            <a:r>
              <a:rPr lang="en-US" dirty="0" err="1"/>
              <a:t>Název</a:t>
            </a:r>
            <a:endParaRPr lang="en-US" dirty="0"/>
          </a:p>
        </p:txBody>
      </p:sp>
      <p:pic>
        <p:nvPicPr>
          <p:cNvPr id="8" name="Zástupný obsah 13" descr="Obsah obrázku Grafika, kruh, skica, umění&#10;&#10;Popis byl vytvořen automaticky">
            <a:extLst>
              <a:ext uri="{FF2B5EF4-FFF2-40B4-BE49-F238E27FC236}">
                <a16:creationId xmlns:a16="http://schemas.microsoft.com/office/drawing/2014/main" id="{660BB1BC-54D0-7880-407F-2DD882AF07D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388" y="3725762"/>
            <a:ext cx="4557514" cy="2540894"/>
          </a:xfrm>
          <a:prstGeom prst="rect">
            <a:avLst/>
          </a:prstGeom>
        </p:spPr>
      </p:pic>
      <p:pic>
        <p:nvPicPr>
          <p:cNvPr id="2" name="Obrázek 1">
            <a:extLst>
              <a:ext uri="{FF2B5EF4-FFF2-40B4-BE49-F238E27FC236}">
                <a16:creationId xmlns:a16="http://schemas.microsoft.com/office/drawing/2014/main" id="{E168EC34-C012-8C4C-70A7-4CFEC1BE8DC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379" y="176667"/>
            <a:ext cx="2855506" cy="578004"/>
          </a:xfrm>
          <a:prstGeom prst="rect">
            <a:avLst/>
          </a:prstGeom>
        </p:spPr>
      </p:pic>
      <p:sp>
        <p:nvSpPr>
          <p:cNvPr id="6" name="Zástupný symbol pro datum 3">
            <a:extLst>
              <a:ext uri="{FF2B5EF4-FFF2-40B4-BE49-F238E27FC236}">
                <a16:creationId xmlns:a16="http://schemas.microsoft.com/office/drawing/2014/main" id="{EDB4F92A-3D60-306C-9345-F538B35AEC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9741" y="6356349"/>
            <a:ext cx="21913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23. April 2026</a:t>
            </a:r>
          </a:p>
        </p:txBody>
      </p:sp>
      <p:sp>
        <p:nvSpPr>
          <p:cNvPr id="4" name="Zástupný symbol pro zápatí 4">
            <a:extLst>
              <a:ext uri="{FF2B5EF4-FFF2-40B4-BE49-F238E27FC236}">
                <a16:creationId xmlns:a16="http://schemas.microsoft.com/office/drawing/2014/main" id="{D48211B4-F54D-23E3-A1D2-C931F54DAE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57283" y="6356349"/>
            <a:ext cx="68733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noProof="1"/>
              <a:t>EOSC CZ Summer School for Data Stewards 2026</a:t>
            </a:r>
            <a:br>
              <a:rPr lang="en-US" noProof="1"/>
            </a:br>
            <a:r>
              <a:rPr lang="en-US" noProof="1"/>
              <a:t>Python Toolbelt for Data Stewards in JupyterLab</a:t>
            </a:r>
          </a:p>
        </p:txBody>
      </p:sp>
    </p:spTree>
    <p:extLst>
      <p:ext uri="{BB962C8B-B14F-4D97-AF65-F5344CB8AC3E}">
        <p14:creationId xmlns:p14="http://schemas.microsoft.com/office/powerpoint/2010/main" val="4130315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11960B07-1828-9841-DA3D-B9941E90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B06B-36ED-4173-BB9C-0A7D5536228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Nadpis 1">
            <a:extLst>
              <a:ext uri="{FF2B5EF4-FFF2-40B4-BE49-F238E27FC236}">
                <a16:creationId xmlns:a16="http://schemas.microsoft.com/office/drawing/2014/main" id="{0ADF6101-CF52-B70F-45D8-B5BC998B1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520" y="954157"/>
            <a:ext cx="11003280" cy="1264257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rgbClr val="008691"/>
                </a:solidFill>
                <a:latin typeface="Quicksand" pitchFamily="2" charset="-18"/>
              </a:defRPr>
            </a:lvl1pPr>
          </a:lstStyle>
          <a:p>
            <a:r>
              <a:rPr lang="en-US" dirty="0" err="1"/>
              <a:t>Název</a:t>
            </a:r>
            <a:endParaRPr lang="en-US" dirty="0"/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164ADD2D-0E67-8128-07DC-201AE9816F2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379" y="176667"/>
            <a:ext cx="2855506" cy="578004"/>
          </a:xfrm>
          <a:prstGeom prst="rect">
            <a:avLst/>
          </a:prstGeom>
        </p:spPr>
      </p:pic>
      <p:sp>
        <p:nvSpPr>
          <p:cNvPr id="6" name="Zástupný symbol pro datum 3">
            <a:extLst>
              <a:ext uri="{FF2B5EF4-FFF2-40B4-BE49-F238E27FC236}">
                <a16:creationId xmlns:a16="http://schemas.microsoft.com/office/drawing/2014/main" id="{4EA4F0EF-3976-49C0-BE8C-D2BE2ECFF6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9741" y="6356349"/>
            <a:ext cx="21913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23. April 2026</a:t>
            </a:r>
          </a:p>
        </p:txBody>
      </p:sp>
      <p:sp>
        <p:nvSpPr>
          <p:cNvPr id="4" name="Zástupný symbol pro zápatí 4">
            <a:extLst>
              <a:ext uri="{FF2B5EF4-FFF2-40B4-BE49-F238E27FC236}">
                <a16:creationId xmlns:a16="http://schemas.microsoft.com/office/drawing/2014/main" id="{ADC8B328-CAA2-4C74-08B2-7715730E48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57283" y="6356349"/>
            <a:ext cx="68733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noProof="1"/>
              <a:t>EOSC CZ Summer School for Data Stewards 2026</a:t>
            </a:r>
            <a:br>
              <a:rPr lang="en-US" noProof="1"/>
            </a:br>
            <a:r>
              <a:rPr lang="en-US" noProof="1"/>
              <a:t>Python Toolbelt for Data Stewards in JupyterLab</a:t>
            </a:r>
          </a:p>
        </p:txBody>
      </p:sp>
    </p:spTree>
    <p:extLst>
      <p:ext uri="{BB962C8B-B14F-4D97-AF65-F5344CB8AC3E}">
        <p14:creationId xmlns:p14="http://schemas.microsoft.com/office/powerpoint/2010/main" val="2956087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_twinfin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A91AC0D-EF7B-9AD4-76C4-ED8884192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B06B-36ED-4173-BB9C-0A7D5536228E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Zástupný obsah 13" descr="Obsah obrázku Grafika, kruh, skica, umění&#10;&#10;Popis byl vytvořen automaticky">
            <a:extLst>
              <a:ext uri="{FF2B5EF4-FFF2-40B4-BE49-F238E27FC236}">
                <a16:creationId xmlns:a16="http://schemas.microsoft.com/office/drawing/2014/main" id="{5AFA8D9B-42F6-3AE2-928E-EFF571DAE42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388" y="3725762"/>
            <a:ext cx="4557514" cy="2540894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25C965F9-C6AD-9A01-00D8-BCDD12E2139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379" y="176667"/>
            <a:ext cx="2855506" cy="578004"/>
          </a:xfrm>
          <a:prstGeom prst="rect">
            <a:avLst/>
          </a:prstGeom>
        </p:spPr>
      </p:pic>
      <p:sp>
        <p:nvSpPr>
          <p:cNvPr id="5" name="Zástupný symbol pro datum 3">
            <a:extLst>
              <a:ext uri="{FF2B5EF4-FFF2-40B4-BE49-F238E27FC236}">
                <a16:creationId xmlns:a16="http://schemas.microsoft.com/office/drawing/2014/main" id="{BD8ABF25-3B16-68CC-67D4-B23210FDF6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9741" y="6356349"/>
            <a:ext cx="21913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23. April 2026</a:t>
            </a:r>
          </a:p>
        </p:txBody>
      </p:sp>
      <p:sp>
        <p:nvSpPr>
          <p:cNvPr id="3" name="Zástupný symbol pro zápatí 4">
            <a:extLst>
              <a:ext uri="{FF2B5EF4-FFF2-40B4-BE49-F238E27FC236}">
                <a16:creationId xmlns:a16="http://schemas.microsoft.com/office/drawing/2014/main" id="{A2EBAEA3-52B0-01A6-3E0C-40998B4A38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57283" y="6356349"/>
            <a:ext cx="68733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noProof="1"/>
              <a:t>EOSC CZ Summer School for Data Stewards 2026</a:t>
            </a:r>
            <a:br>
              <a:rPr lang="en-US" noProof="1"/>
            </a:br>
            <a:r>
              <a:rPr lang="en-US" noProof="1"/>
              <a:t>Python Toolbelt for Data Stewards in JupyterLab</a:t>
            </a:r>
          </a:p>
        </p:txBody>
      </p:sp>
    </p:spTree>
    <p:extLst>
      <p:ext uri="{BB962C8B-B14F-4D97-AF65-F5344CB8AC3E}">
        <p14:creationId xmlns:p14="http://schemas.microsoft.com/office/powerpoint/2010/main" val="3426027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A91AC0D-EF7B-9AD4-76C4-ED8884192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B06B-36ED-4173-BB9C-0A7D5536228E}" type="slidenum">
              <a:rPr lang="cs-CZ" smtClean="0"/>
              <a:t>‹#›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A17A1BA9-8AD7-FF7E-3C31-212D5EBDC6A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379" y="176667"/>
            <a:ext cx="2855506" cy="578004"/>
          </a:xfrm>
          <a:prstGeom prst="rect">
            <a:avLst/>
          </a:prstGeom>
        </p:spPr>
      </p:pic>
      <p:sp>
        <p:nvSpPr>
          <p:cNvPr id="5" name="Zástupný symbol pro datum 3">
            <a:extLst>
              <a:ext uri="{FF2B5EF4-FFF2-40B4-BE49-F238E27FC236}">
                <a16:creationId xmlns:a16="http://schemas.microsoft.com/office/drawing/2014/main" id="{6A5DD07A-5453-B25C-126B-CF4A549865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9741" y="6356349"/>
            <a:ext cx="21913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/>
                </a:solidFill>
              </a:defRPr>
            </a:lvl1pPr>
          </a:lstStyle>
          <a:p>
            <a:r>
              <a:rPr lang="de-DE" noProof="1"/>
              <a:t>23. April 2026</a:t>
            </a:r>
            <a:endParaRPr lang="en-US" noProof="1"/>
          </a:p>
        </p:txBody>
      </p:sp>
      <p:sp>
        <p:nvSpPr>
          <p:cNvPr id="3" name="Zástupný symbol pro zápatí 4">
            <a:extLst>
              <a:ext uri="{FF2B5EF4-FFF2-40B4-BE49-F238E27FC236}">
                <a16:creationId xmlns:a16="http://schemas.microsoft.com/office/drawing/2014/main" id="{E4F7998A-7D37-0112-15B2-BFA7C04E0B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57283" y="6356349"/>
            <a:ext cx="68733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noProof="1"/>
              <a:t>EOSC CZ Summer School for Data Stewards 2026</a:t>
            </a:r>
            <a:br>
              <a:rPr lang="en-US" noProof="1"/>
            </a:br>
            <a:r>
              <a:rPr lang="en-US" noProof="1"/>
              <a:t>Python Toolbelt for Data Stewards in JupyterLab</a:t>
            </a:r>
          </a:p>
        </p:txBody>
      </p:sp>
    </p:spTree>
    <p:extLst>
      <p:ext uri="{BB962C8B-B14F-4D97-AF65-F5344CB8AC3E}">
        <p14:creationId xmlns:p14="http://schemas.microsoft.com/office/powerpoint/2010/main" val="3142560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ávěr_mod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31CCFE7E-270F-C5A8-76DA-00CA2B66FA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70679" y="-39757"/>
            <a:ext cx="12347493" cy="6945465"/>
          </a:xfrm>
          <a:prstGeom prst="rect">
            <a:avLst/>
          </a:prstGeom>
          <a:solidFill>
            <a:srgbClr val="0086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0" name="Nadpis 1">
            <a:extLst>
              <a:ext uri="{FF2B5EF4-FFF2-40B4-BE49-F238E27FC236}">
                <a16:creationId xmlns:a16="http://schemas.microsoft.com/office/drawing/2014/main" id="{7FFBF36C-9D9A-7741-3262-B7CF4AB5CEE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4695" y="1122363"/>
            <a:ext cx="10403305" cy="2387600"/>
          </a:xfrm>
          <a:prstGeom prst="rect">
            <a:avLst/>
          </a:prstGeo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  <a:latin typeface="Quicksand" pitchFamily="2" charset="-18"/>
              </a:defRPr>
            </a:lvl1pPr>
          </a:lstStyle>
          <a:p>
            <a:r>
              <a:rPr lang="en-US" noProof="1"/>
              <a:t>Thank you</a:t>
            </a:r>
          </a:p>
        </p:txBody>
      </p:sp>
      <p:sp>
        <p:nvSpPr>
          <p:cNvPr id="11" name="Podnadpis 2">
            <a:extLst>
              <a:ext uri="{FF2B5EF4-FFF2-40B4-BE49-F238E27FC236}">
                <a16:creationId xmlns:a16="http://schemas.microsoft.com/office/drawing/2014/main" id="{AC2375E9-29A1-3416-A002-CDCE10104A9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8705" y="3602038"/>
            <a:ext cx="10399295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Quicksand" pitchFamily="2" charset="-1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1"/>
              <a:t>E: info@eosc.cz	W: www.eosc.cz</a:t>
            </a:r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375F85DE-BEBC-0F57-0C98-4294DAB6BB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85" y="173206"/>
            <a:ext cx="2843900" cy="584926"/>
          </a:xfrm>
          <a:prstGeom prst="rect">
            <a:avLst/>
          </a:prstGeom>
        </p:spPr>
      </p:pic>
      <p:grpSp>
        <p:nvGrpSpPr>
          <p:cNvPr id="3" name="Skupina 2">
            <a:extLst>
              <a:ext uri="{FF2B5EF4-FFF2-40B4-BE49-F238E27FC236}">
                <a16:creationId xmlns:a16="http://schemas.microsoft.com/office/drawing/2014/main" id="{AB451F5A-198D-DE67-7077-D20CE9442904}"/>
              </a:ext>
            </a:extLst>
          </p:cNvPr>
          <p:cNvGrpSpPr/>
          <p:nvPr userDrawn="1"/>
        </p:nvGrpSpPr>
        <p:grpSpPr>
          <a:xfrm>
            <a:off x="5657665" y="6295602"/>
            <a:ext cx="876671" cy="279182"/>
            <a:chOff x="5657665" y="6319048"/>
            <a:chExt cx="876671" cy="279182"/>
          </a:xfrm>
        </p:grpSpPr>
        <p:pic>
          <p:nvPicPr>
            <p:cNvPr id="6" name="by-2-uprava_pro_EOSC_CZ.png" descr="by-2-uprava_pro_EOSC_CZ.png">
              <a:hlinkClick r:id="rId3"/>
              <a:extLst>
                <a:ext uri="{FF2B5EF4-FFF2-40B4-BE49-F238E27FC236}">
                  <a16:creationId xmlns:a16="http://schemas.microsoft.com/office/drawing/2014/main" id="{1BA20A1D-7B45-63B4-0A2B-1F6F12B49E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57665" y="6319048"/>
              <a:ext cx="269241" cy="269241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7" name="CC BY">
              <a:extLst>
                <a:ext uri="{FF2B5EF4-FFF2-40B4-BE49-F238E27FC236}">
                  <a16:creationId xmlns:a16="http://schemas.microsoft.com/office/drawing/2014/main" id="{7FFE4F56-209F-9CF9-7278-40844A7954CC}"/>
                </a:ext>
              </a:extLst>
            </p:cNvPr>
            <p:cNvSpPr txBox="1"/>
            <p:nvPr/>
          </p:nvSpPr>
          <p:spPr>
            <a:xfrm>
              <a:off x="5972325" y="6321231"/>
              <a:ext cx="562011" cy="2769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45719" rIns="45719">
              <a:spAutoFit/>
            </a:bodyPr>
            <a:lstStyle>
              <a:lvl1pPr>
                <a:defRPr sz="1200">
                  <a:solidFill>
                    <a:srgbClr val="FFFFFF"/>
                  </a:solidFill>
                  <a:latin typeface="Roboto Regular Light"/>
                  <a:ea typeface="Roboto Regular Light"/>
                  <a:cs typeface="Roboto Regular Light"/>
                  <a:sym typeface="Roboto Regular Light"/>
                </a:defRPr>
              </a:lvl1pPr>
            </a:lstStyle>
            <a:p>
              <a:r>
                <a:rPr lang="en-US" noProof="1">
                  <a:solidFill>
                    <a:schemeClr val="bg1"/>
                  </a:solidFill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CC BY</a:t>
              </a:r>
              <a:endParaRPr lang="en-US" noProof="1">
                <a:solidFill>
                  <a:schemeClr val="bg1"/>
                </a:solidFill>
              </a:endParaRPr>
            </a:p>
          </p:txBody>
        </p:sp>
      </p:grpSp>
      <p:pic>
        <p:nvPicPr>
          <p:cNvPr id="8" name="Obrázek 7" descr="Obsah obrázku text, Písmo, snímek obrazovky, černá&#10;&#10;Obsah generovaný pomocí AI může být nesprávný.">
            <a:extLst>
              <a:ext uri="{FF2B5EF4-FFF2-40B4-BE49-F238E27FC236}">
                <a16:creationId xmlns:a16="http://schemas.microsoft.com/office/drawing/2014/main" id="{5DB55F41-B003-8646-F9C8-1ED466485D3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" y="6216630"/>
            <a:ext cx="3668516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1289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ávěr_se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5D5BC619-E0DF-BB8F-6164-CAF35D0C9C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70679" y="-39757"/>
            <a:ext cx="12347493" cy="6945465"/>
          </a:xfrm>
          <a:prstGeom prst="rect">
            <a:avLst/>
          </a:prstGeom>
          <a:solidFill>
            <a:srgbClr val="E4E4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>
              <a:solidFill>
                <a:srgbClr val="008691"/>
              </a:solidFill>
            </a:endParaRPr>
          </a:p>
        </p:txBody>
      </p:sp>
      <p:sp>
        <p:nvSpPr>
          <p:cNvPr id="10" name="Nadpis 1">
            <a:extLst>
              <a:ext uri="{FF2B5EF4-FFF2-40B4-BE49-F238E27FC236}">
                <a16:creationId xmlns:a16="http://schemas.microsoft.com/office/drawing/2014/main" id="{7FFBF36C-9D9A-7741-3262-B7CF4AB5CEE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4695" y="1122363"/>
            <a:ext cx="10403305" cy="2387600"/>
          </a:xfrm>
          <a:prstGeom prst="rect">
            <a:avLst/>
          </a:prstGeom>
        </p:spPr>
        <p:txBody>
          <a:bodyPr anchor="b"/>
          <a:lstStyle>
            <a:lvl1pPr algn="l">
              <a:defRPr sz="6000">
                <a:solidFill>
                  <a:srgbClr val="008691"/>
                </a:solidFill>
                <a:latin typeface="Quicksand" pitchFamily="2" charset="-18"/>
              </a:defRPr>
            </a:lvl1pPr>
          </a:lstStyle>
          <a:p>
            <a:r>
              <a:rPr lang="en-US" noProof="1"/>
              <a:t>Thank you</a:t>
            </a:r>
          </a:p>
        </p:txBody>
      </p:sp>
      <p:sp>
        <p:nvSpPr>
          <p:cNvPr id="11" name="Podnadpis 2">
            <a:extLst>
              <a:ext uri="{FF2B5EF4-FFF2-40B4-BE49-F238E27FC236}">
                <a16:creationId xmlns:a16="http://schemas.microsoft.com/office/drawing/2014/main" id="{AC2375E9-29A1-3416-A002-CDCE10104A9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8705" y="3602038"/>
            <a:ext cx="10399295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008691"/>
                </a:solidFill>
                <a:latin typeface="Quicksand" pitchFamily="2" charset="-1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1"/>
              <a:t>E: info@eosc.cz	W: www.eosc.cz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4040FC14-0E3A-D331-285F-9D35AA1F62F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379" y="176667"/>
            <a:ext cx="2855506" cy="578004"/>
          </a:xfrm>
          <a:prstGeom prst="rect">
            <a:avLst/>
          </a:prstGeom>
        </p:spPr>
      </p:pic>
      <p:grpSp>
        <p:nvGrpSpPr>
          <p:cNvPr id="3" name="Skupina 2">
            <a:extLst>
              <a:ext uri="{FF2B5EF4-FFF2-40B4-BE49-F238E27FC236}">
                <a16:creationId xmlns:a16="http://schemas.microsoft.com/office/drawing/2014/main" id="{49687B13-573F-02FA-A4FE-7EE53C2494F6}"/>
              </a:ext>
            </a:extLst>
          </p:cNvPr>
          <p:cNvGrpSpPr/>
          <p:nvPr userDrawn="1"/>
        </p:nvGrpSpPr>
        <p:grpSpPr>
          <a:xfrm>
            <a:off x="5657665" y="6295602"/>
            <a:ext cx="876671" cy="279182"/>
            <a:chOff x="5657665" y="6295602"/>
            <a:chExt cx="876671" cy="279182"/>
          </a:xfrm>
        </p:grpSpPr>
        <p:pic>
          <p:nvPicPr>
            <p:cNvPr id="5" name="by-2-uprava_pro_EOSC_CZ.png">
              <a:hlinkClick r:id="rId3"/>
              <a:extLst>
                <a:ext uri="{FF2B5EF4-FFF2-40B4-BE49-F238E27FC236}">
                  <a16:creationId xmlns:a16="http://schemas.microsoft.com/office/drawing/2014/main" id="{F5BF7BD7-775A-AD2B-3F99-EE38C717D2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657665" y="6295602"/>
              <a:ext cx="269241" cy="269241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6" name="CC BY">
              <a:extLst>
                <a:ext uri="{FF2B5EF4-FFF2-40B4-BE49-F238E27FC236}">
                  <a16:creationId xmlns:a16="http://schemas.microsoft.com/office/drawing/2014/main" id="{C5CB208D-79CB-049A-F715-608A6A2A48AD}"/>
                </a:ext>
              </a:extLst>
            </p:cNvPr>
            <p:cNvSpPr txBox="1"/>
            <p:nvPr/>
          </p:nvSpPr>
          <p:spPr>
            <a:xfrm>
              <a:off x="5972325" y="6297785"/>
              <a:ext cx="562011" cy="2769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45719" rIns="45719">
              <a:spAutoFit/>
            </a:bodyPr>
            <a:lstStyle>
              <a:lvl1pPr>
                <a:defRPr sz="1200">
                  <a:solidFill>
                    <a:srgbClr val="FFFFFF"/>
                  </a:solidFill>
                  <a:latin typeface="Roboto Regular Light"/>
                  <a:ea typeface="Roboto Regular Light"/>
                  <a:cs typeface="Roboto Regular Light"/>
                  <a:sym typeface="Roboto Regular Light"/>
                </a:defRPr>
              </a:lvl1pPr>
            </a:lstStyle>
            <a:p>
              <a:r>
                <a:rPr lang="en-US" noProof="1">
                  <a:solidFill>
                    <a:srgbClr val="008691"/>
                  </a:solidFill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CC BY</a:t>
              </a:r>
              <a:endParaRPr lang="en-US" noProof="1">
                <a:solidFill>
                  <a:srgbClr val="008691"/>
                </a:solidFill>
              </a:endParaRPr>
            </a:p>
          </p:txBody>
        </p:sp>
      </p:grpSp>
      <p:pic>
        <p:nvPicPr>
          <p:cNvPr id="7" name="Obrázek 6" descr="Obsah obrázku text, snímek obrazovky, Písmo, Grafika&#10;&#10;Obsah generovaný pomocí AI může být nesprávný.">
            <a:extLst>
              <a:ext uri="{FF2B5EF4-FFF2-40B4-BE49-F238E27FC236}">
                <a16:creationId xmlns:a16="http://schemas.microsoft.com/office/drawing/2014/main" id="{FCD972E7-E3E5-BEC7-F3FC-A9CE699C0E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2" y="6216826"/>
            <a:ext cx="3615677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235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65C4F126-FD4B-3C9C-4D9C-AAE504837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1"/>
              <a:t>Kliknutím vložíte nadpis.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178A123-5BB5-6FCE-3DE5-53CD12437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1"/>
              <a:t>Po kliknutí můžete upravovat styly textu v předloze.</a:t>
            </a:r>
          </a:p>
          <a:p>
            <a:pPr lvl="1"/>
            <a:r>
              <a:rPr lang="en-US" noProof="1"/>
              <a:t>Druhá úroveň</a:t>
            </a:r>
          </a:p>
          <a:p>
            <a:pPr lvl="2"/>
            <a:r>
              <a:rPr lang="en-US" noProof="1"/>
              <a:t>Třetí úroveň</a:t>
            </a:r>
          </a:p>
          <a:p>
            <a:pPr lvl="3"/>
            <a:r>
              <a:rPr lang="en-US" noProof="1"/>
              <a:t>Čtvrtá úroveň</a:t>
            </a:r>
          </a:p>
          <a:p>
            <a:pPr lvl="4"/>
            <a:r>
              <a:rPr lang="en-US" noProof="1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8F35C03-7EA8-6D9D-3FF5-10B4CD9FAD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9741" y="6356349"/>
            <a:ext cx="21913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/>
                </a:solidFill>
              </a:defRPr>
            </a:lvl1pPr>
          </a:lstStyle>
          <a:p>
            <a:r>
              <a:rPr lang="de-DE" noProof="1"/>
              <a:t>23. April 2026</a:t>
            </a:r>
            <a:endParaRPr lang="en-US" noProof="1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5BFCCA0-D8CD-BAAE-FD2D-31019576B8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57283" y="6356349"/>
            <a:ext cx="68733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noProof="1"/>
              <a:t>EOSC CZ Summer School for Data Stewards 2026</a:t>
            </a:r>
            <a:br>
              <a:rPr lang="en-US" noProof="1"/>
            </a:br>
            <a:r>
              <a:rPr lang="en-US" noProof="1"/>
              <a:t>Python Toolbelt for Data Stewards in JupyterLab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7DDE955-49F4-F904-E953-FDF537A439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20870" y="6356349"/>
            <a:ext cx="21913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1BEB06B-36ED-4173-BB9C-0A7D5536228E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684364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61" r:id="rId4"/>
    <p:sldLayoutId id="2147483662" r:id="rId5"/>
    <p:sldLayoutId id="2147483663" r:id="rId6"/>
    <p:sldLayoutId id="2147483654" r:id="rId7"/>
    <p:sldLayoutId id="2147483664" r:id="rId8"/>
    <p:sldLayoutId id="2147483655" r:id="rId9"/>
    <p:sldLayoutId id="2147483665" r:id="rId10"/>
    <p:sldLayoutId id="2147483667" r:id="rId11"/>
    <p:sldLayoutId id="2147483668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Quicksand" pitchFamily="2" charset="-18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 Medium" panose="02000000000000000000" pitchFamily="2" charset="0"/>
          <a:ea typeface="Roboto Medium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 Medium" panose="02000000000000000000" pitchFamily="2" charset="0"/>
          <a:ea typeface="Roboto Medium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 Medium" panose="02000000000000000000" pitchFamily="2" charset="0"/>
          <a:ea typeface="Roboto Medium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Roboto Medium" panose="02000000000000000000" pitchFamily="2" charset="0"/>
          <a:ea typeface="Roboto Medium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Roboto Medium" panose="02000000000000000000" pitchFamily="2" charset="0"/>
          <a:ea typeface="Roboto Medium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rcid.org/0000-0001-7267-6577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cads.github.io/eosc-ssds-2026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hyperlink" Target="https://urlr.me/qE92Ny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orcid.org/0000-0001-7267-6577" TargetMode="Externa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orcid.org/0000-0001-7267-6577" TargetMode="Externa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A241264-3AD3-B203-2223-41C895941E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520" y="1122363"/>
            <a:ext cx="11520000" cy="2880000"/>
          </a:xfrm>
        </p:spPr>
        <p:txBody>
          <a:bodyPr>
            <a:normAutofit fontScale="90000"/>
          </a:bodyPr>
          <a:lstStyle/>
          <a:p>
            <a:r>
              <a:rPr lang="en-US" sz="4000" b="1" noProof="1">
                <a:latin typeface="Quicksand"/>
              </a:rPr>
              <a:t>EOSC CZ Summer School for Data Stewards 2026</a:t>
            </a:r>
            <a:br>
              <a:rPr lang="en-US" sz="3600" noProof="1">
                <a:latin typeface="Quicksand"/>
              </a:rPr>
            </a:br>
            <a:br>
              <a:rPr lang="en-US" sz="3600" noProof="1">
                <a:latin typeface="Quicksand"/>
              </a:rPr>
            </a:br>
            <a:r>
              <a:rPr lang="en-US" sz="3600" noProof="1">
                <a:latin typeface="Quicksand"/>
              </a:rPr>
              <a:t>Session 2</a:t>
            </a:r>
            <a:br>
              <a:rPr lang="en-US" sz="3600" noProof="1">
                <a:latin typeface="Quicksand"/>
              </a:rPr>
            </a:br>
            <a:r>
              <a:rPr lang="en-US" sz="3800" noProof="1">
                <a:latin typeface="Quicksand"/>
              </a:rPr>
              <a:t>Python Toolbelt for Data Stewards in JupyterLab</a:t>
            </a:r>
            <a:br>
              <a:rPr lang="en-US" sz="3200" noProof="1">
                <a:latin typeface="Quicksand"/>
              </a:rPr>
            </a:br>
            <a:br>
              <a:rPr lang="en-US" sz="3200" noProof="1">
                <a:latin typeface="Quicksand"/>
              </a:rPr>
            </a:br>
            <a:r>
              <a:rPr lang="en-US" sz="3600" b="1" noProof="1">
                <a:latin typeface="Quicksand"/>
              </a:rPr>
              <a:t>Introduction</a:t>
            </a:r>
            <a:endParaRPr lang="en-US" sz="4800" b="1" noProof="1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BE75397-D77A-21CA-B1BC-38BEEEEB6F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520" y="5023595"/>
            <a:ext cx="10317480" cy="102461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1">
                <a:latin typeface="Quicksand"/>
                <a:ea typeface="Roboto Mediu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Matthias Täschner</a:t>
            </a:r>
            <a:r>
              <a:rPr lang="en-US" noProof="1">
                <a:latin typeface="Quicksand"/>
                <a:ea typeface="Roboto Medium"/>
              </a:rPr>
              <a:t> </a:t>
            </a:r>
            <a:r>
              <a:rPr lang="en-US" noProof="1">
                <a:latin typeface="Glyphter" panose="02000503000000000000" pitchFamily="1" charset="0"/>
                <a:sym typeface="Helvetica"/>
              </a:rPr>
              <a:t>A</a:t>
            </a:r>
          </a:p>
          <a:p>
            <a:r>
              <a:rPr lang="en-US" sz="1800" noProof="1">
                <a:latin typeface="Quicksand" pitchFamily="2" charset="77"/>
                <a:sym typeface="Helvetica"/>
              </a:rPr>
              <a:t>Data Science Center ScaDS.</a:t>
            </a:r>
            <a:r>
              <a:rPr lang="en-US" sz="1800" noProof="1">
                <a:latin typeface="Quicksand" pitchFamily="2" charset="77"/>
              </a:rPr>
              <a:t>AI</a:t>
            </a:r>
            <a:r>
              <a:rPr lang="en-US" sz="1800" noProof="1">
                <a:latin typeface="Quicksand" pitchFamily="2" charset="77"/>
                <a:sym typeface="Helvetica"/>
              </a:rPr>
              <a:t>, Leipzig University, Germany</a:t>
            </a:r>
            <a:endParaRPr lang="en-US" sz="1800" noProof="1">
              <a:latin typeface="Quicks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33755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7C954-BE25-195A-743F-0F167C28E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954157"/>
            <a:ext cx="5400000" cy="1264257"/>
          </a:xfrm>
        </p:spPr>
        <p:txBody>
          <a:bodyPr anchor="ctr">
            <a:normAutofit/>
          </a:bodyPr>
          <a:lstStyle/>
          <a:p>
            <a:r>
              <a:rPr lang="en-US" sz="4200" dirty="0"/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3B79D-F77A-BA61-955D-2499B794C7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Research Associate at DSC </a:t>
            </a:r>
            <a:r>
              <a:rPr lang="en-US" sz="2000" dirty="0" err="1"/>
              <a:t>ScaDS.AI</a:t>
            </a:r>
            <a:r>
              <a:rPr lang="en-US" sz="2000" dirty="0"/>
              <a:t>, Leipzig University, Germany</a:t>
            </a:r>
          </a:p>
          <a:p>
            <a:r>
              <a:rPr lang="en-US" sz="2000" dirty="0"/>
              <a:t>Professional Background: IT systems technician, IT admin, data scientist</a:t>
            </a:r>
          </a:p>
          <a:p>
            <a:r>
              <a:rPr lang="en-US" sz="2000" dirty="0"/>
              <a:t>Responsibilities: Transfer projects, research and development, trainings, IT coordination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0A95C9-72F3-9B88-3E03-67993F9F5A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53799" y="2276476"/>
            <a:ext cx="5400001" cy="3900488"/>
          </a:xfrm>
        </p:spPr>
        <p:txBody>
          <a:bodyPr>
            <a:normAutofit lnSpcReduction="10000"/>
          </a:bodyPr>
          <a:lstStyle/>
          <a:p>
            <a:r>
              <a:rPr lang="en-US" sz="2000" dirty="0" err="1"/>
              <a:t>ScaDS.AI</a:t>
            </a:r>
            <a:r>
              <a:rPr lang="en-US" sz="2000" dirty="0"/>
              <a:t>: National AI competence center, located at Leipzig University and Dresden University of Technology</a:t>
            </a:r>
          </a:p>
          <a:p>
            <a:r>
              <a:rPr lang="en-US" sz="2000" dirty="0"/>
              <a:t>Funded by German Government and the Free State of Saxony</a:t>
            </a:r>
          </a:p>
          <a:p>
            <a:r>
              <a:rPr lang="en-US" sz="2000" dirty="0"/>
              <a:t>Interdisciplinary research on AI and Data Science</a:t>
            </a:r>
          </a:p>
          <a:p>
            <a:r>
              <a:rPr lang="en-US" sz="2000" dirty="0"/>
              <a:t>Development of scalable, responsible, trustworthy, and efficient AI solutions</a:t>
            </a:r>
          </a:p>
          <a:p>
            <a:r>
              <a:rPr lang="en-US" sz="2000" dirty="0"/>
              <a:t>Transfer of research results to science, industry, and society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8AF5CF-C910-4FC1-DAB5-88CA3CB651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1BEB06B-36ED-4173-BB9C-0A7D5536228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FC7A481-DFDB-64E8-DC90-77B6FB80C222}"/>
              </a:ext>
            </a:extLst>
          </p:cNvPr>
          <p:cNvSpPr txBox="1">
            <a:spLocks/>
          </p:cNvSpPr>
          <p:nvPr/>
        </p:nvSpPr>
        <p:spPr>
          <a:xfrm>
            <a:off x="5953800" y="954156"/>
            <a:ext cx="5400000" cy="1264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8691"/>
                </a:solidFill>
                <a:latin typeface="Quicksand" pitchFamily="2" charset="-18"/>
                <a:ea typeface="+mj-ea"/>
                <a:cs typeface="+mj-cs"/>
              </a:defRPr>
            </a:lvl1pPr>
          </a:lstStyle>
          <a:p>
            <a:r>
              <a:rPr lang="en-US" sz="4200" dirty="0"/>
              <a:t>About my workplace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4E6882F-0B3C-EBC0-834E-58935DD137F7}"/>
              </a:ext>
            </a:extLst>
          </p:cNvPr>
          <p:cNvGrpSpPr/>
          <p:nvPr/>
        </p:nvGrpSpPr>
        <p:grpSpPr>
          <a:xfrm>
            <a:off x="6021155" y="173640"/>
            <a:ext cx="5989996" cy="1134460"/>
            <a:chOff x="7145073" y="181953"/>
            <a:chExt cx="4882703" cy="92474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B5D9F76-96E4-787E-754D-7CAE496862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40" t="16251" r="9739" b="15580"/>
            <a:stretch>
              <a:fillRect/>
            </a:stretch>
          </p:blipFill>
          <p:spPr>
            <a:xfrm>
              <a:off x="7145073" y="181954"/>
              <a:ext cx="1104244" cy="499082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02D0245-03FF-3665-826C-4D8919A1A8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27" t="14134" r="16897" b="14470"/>
            <a:stretch>
              <a:fillRect/>
            </a:stretch>
          </p:blipFill>
          <p:spPr>
            <a:xfrm>
              <a:off x="10679824" y="227349"/>
              <a:ext cx="1347952" cy="87935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808B71C-5A8D-1ED3-0546-6E3756456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38" t="6369" r="10342" b="12273"/>
            <a:stretch>
              <a:fillRect/>
            </a:stretch>
          </p:blipFill>
          <p:spPr>
            <a:xfrm>
              <a:off x="8359677" y="181953"/>
              <a:ext cx="1104244" cy="45884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CF5C527-33BF-5236-676B-7E3B5ED7861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17" t="11226" r="5759" b="11038"/>
            <a:stretch>
              <a:fillRect/>
            </a:stretch>
          </p:blipFill>
          <p:spPr>
            <a:xfrm>
              <a:off x="9574281" y="233464"/>
              <a:ext cx="995183" cy="356681"/>
            </a:xfrm>
            <a:prstGeom prst="rect">
              <a:avLst/>
            </a:prstGeom>
          </p:spPr>
        </p:pic>
      </p:grpSp>
      <p:sp>
        <p:nvSpPr>
          <p:cNvPr id="7" name="Zástupný symbol pro datum 4">
            <a:extLst>
              <a:ext uri="{FF2B5EF4-FFF2-40B4-BE49-F238E27FC236}">
                <a16:creationId xmlns:a16="http://schemas.microsoft.com/office/drawing/2014/main" id="{9AE65862-C2A6-79CB-35B9-180FBED255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9741" y="6356349"/>
            <a:ext cx="2191389" cy="365125"/>
          </a:xfrm>
        </p:spPr>
        <p:txBody>
          <a:bodyPr/>
          <a:lstStyle/>
          <a:p>
            <a:fld id="{DD6F7F18-D775-4140-8128-5795D730ECEA}" type="datetime4">
              <a:rPr lang="en-US" noProof="1" smtClean="0"/>
              <a:pPr/>
              <a:t>June 9, 2026</a:t>
            </a:fld>
            <a:endParaRPr lang="en-US" noProof="1"/>
          </a:p>
        </p:txBody>
      </p:sp>
      <p:sp>
        <p:nvSpPr>
          <p:cNvPr id="6" name="Zástupný symbol pro zápatí 4">
            <a:extLst>
              <a:ext uri="{FF2B5EF4-FFF2-40B4-BE49-F238E27FC236}">
                <a16:creationId xmlns:a16="http://schemas.microsoft.com/office/drawing/2014/main" id="{06ED593D-0752-D0DA-DD65-703C722AD5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57283" y="6356349"/>
            <a:ext cx="68733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noProof="1"/>
              <a:t>EOSC CZ Summer School for Data Stewards 2026</a:t>
            </a:r>
            <a:br>
              <a:rPr lang="en-US" noProof="1"/>
            </a:br>
            <a:r>
              <a:rPr lang="en-US" noProof="1"/>
              <a:t>Python Toolbelt for Data Stewards in JupyterLab</a:t>
            </a:r>
          </a:p>
        </p:txBody>
      </p:sp>
    </p:spTree>
    <p:extLst>
      <p:ext uri="{BB962C8B-B14F-4D97-AF65-F5344CB8AC3E}">
        <p14:creationId xmlns:p14="http://schemas.microsoft.com/office/powerpoint/2010/main" val="3450197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8F81F8C-155E-4BDF-485C-092C57823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noProof="1"/>
              <a:t>Agenda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3F3398B-46F0-8C34-F46D-178274B56BA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800" noProof="1"/>
              <a:t>Session 1 (June 16, 13:30–17:00)</a:t>
            </a:r>
          </a:p>
          <a:p>
            <a:r>
              <a:rPr lang="en-US" noProof="1"/>
              <a:t>Python projects with uv</a:t>
            </a:r>
          </a:p>
          <a:p>
            <a:r>
              <a:rPr lang="en-US" noProof="1"/>
              <a:t>JupyterLab and notebooks</a:t>
            </a:r>
          </a:p>
          <a:p>
            <a:r>
              <a:rPr lang="en-US" noProof="1"/>
              <a:t>AI assistant in JupyterLab</a:t>
            </a:r>
          </a:p>
          <a:p>
            <a:r>
              <a:rPr lang="en-US" noProof="1"/>
              <a:t>Data steward tasks in JupyterLab</a:t>
            </a:r>
          </a:p>
          <a:p>
            <a:pPr marL="0" indent="0">
              <a:buNone/>
            </a:pPr>
            <a:endParaRPr lang="en-US" noProof="1"/>
          </a:p>
          <a:p>
            <a:pPr marL="0" indent="0" algn="ctr">
              <a:buNone/>
            </a:pPr>
            <a:r>
              <a:rPr lang="en-US" b="1" i="1" noProof="1"/>
              <a:t>“Get to know your tools”</a:t>
            </a:r>
          </a:p>
          <a:p>
            <a:pPr marL="0" indent="0" algn="ctr">
              <a:buNone/>
            </a:pPr>
            <a:r>
              <a:rPr lang="en-US" b="1" i="1" noProof="1"/>
              <a:t>General handling and understanding</a:t>
            </a:r>
          </a:p>
          <a:p>
            <a:endParaRPr lang="en-US" noProof="1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5E74EBE-B4BE-6F81-3A7C-44B8F693F1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53800" y="2276476"/>
            <a:ext cx="5400000" cy="390048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noProof="1"/>
              <a:t>Session 2 (June 17, 0</a:t>
            </a:r>
            <a:r>
              <a:rPr lang="en-DE" sz="2800" dirty="0"/>
              <a:t>8:30–12:00</a:t>
            </a:r>
            <a:r>
              <a:rPr lang="en-US" sz="2800" noProof="1"/>
              <a:t>)</a:t>
            </a:r>
          </a:p>
          <a:p>
            <a:r>
              <a:rPr lang="en-US" noProof="1"/>
              <a:t>Python-based toolkit and pipeline</a:t>
            </a:r>
          </a:p>
          <a:p>
            <a:r>
              <a:rPr lang="en-US" noProof="1"/>
              <a:t>Data exploration and preparation</a:t>
            </a:r>
          </a:p>
          <a:p>
            <a:r>
              <a:rPr lang="en-US" noProof="1"/>
              <a:t>Data validation and metadata</a:t>
            </a:r>
          </a:p>
          <a:p>
            <a:r>
              <a:rPr lang="en-US" noProof="1"/>
              <a:t>Documentation, DMP</a:t>
            </a:r>
            <a:br>
              <a:rPr lang="en-US" noProof="1"/>
            </a:br>
            <a:r>
              <a:rPr lang="en-US" noProof="1"/>
              <a:t>[Export via API usage, automation]</a:t>
            </a:r>
          </a:p>
          <a:p>
            <a:pPr marL="0" indent="0">
              <a:buNone/>
            </a:pPr>
            <a:endParaRPr lang="en-US" noProof="1"/>
          </a:p>
          <a:p>
            <a:pPr marL="0" indent="0" algn="ctr">
              <a:buNone/>
            </a:pPr>
            <a:r>
              <a:rPr lang="en-GB" b="1" i="1" dirty="0"/>
              <a:t>“Use your tools productively”</a:t>
            </a:r>
          </a:p>
          <a:p>
            <a:pPr marL="0" indent="0" algn="ctr">
              <a:buNone/>
            </a:pPr>
            <a:r>
              <a:rPr lang="en-GB" b="1" i="1" dirty="0"/>
              <a:t>Detailed usage of the Python Toolbelt</a:t>
            </a:r>
            <a:endParaRPr lang="en-US" b="1" i="1" noProof="1"/>
          </a:p>
          <a:p>
            <a:endParaRPr lang="en-US" noProof="1"/>
          </a:p>
          <a:p>
            <a:endParaRPr lang="en-US" noProof="1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C31FA972-FAB9-2ADF-8EAD-886F8B59C9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9741" y="6356349"/>
            <a:ext cx="2191389" cy="365125"/>
          </a:xfrm>
        </p:spPr>
        <p:txBody>
          <a:bodyPr/>
          <a:lstStyle/>
          <a:p>
            <a:fld id="{DD6F7F18-D775-4140-8128-5795D730ECEA}" type="datetime4">
              <a:rPr lang="en-US" noProof="1" smtClean="0"/>
              <a:pPr/>
              <a:t>June 9, 2026</a:t>
            </a:fld>
            <a:endParaRPr lang="en-US" noProof="1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91FF1A6-51C8-7044-09BD-E5F16CFCFA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1BEB06B-36ED-4173-BB9C-0A7D5536228E}" type="slidenum">
              <a:rPr lang="en-US" noProof="1" smtClean="0"/>
              <a:pPr/>
              <a:t>3</a:t>
            </a:fld>
            <a:endParaRPr lang="en-US" noProof="1"/>
          </a:p>
        </p:txBody>
      </p:sp>
      <p:sp>
        <p:nvSpPr>
          <p:cNvPr id="6" name="Zástupný symbol pro zápatí 4">
            <a:extLst>
              <a:ext uri="{FF2B5EF4-FFF2-40B4-BE49-F238E27FC236}">
                <a16:creationId xmlns:a16="http://schemas.microsoft.com/office/drawing/2014/main" id="{4C9985BA-C2BF-A676-06D3-C5488E8427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57283" y="6356349"/>
            <a:ext cx="68733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noProof="1"/>
              <a:t>EOSC CZ Summer School for Data Stewards 2026</a:t>
            </a:r>
            <a:br>
              <a:rPr lang="en-US" noProof="1"/>
            </a:br>
            <a:r>
              <a:rPr lang="en-US" noProof="1"/>
              <a:t>Python Toolbelt for Data Stewards in JupyterLab</a:t>
            </a:r>
          </a:p>
        </p:txBody>
      </p:sp>
    </p:spTree>
    <p:extLst>
      <p:ext uri="{BB962C8B-B14F-4D97-AF65-F5344CB8AC3E}">
        <p14:creationId xmlns:p14="http://schemas.microsoft.com/office/powerpoint/2010/main" val="2918790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40DA8-A3D1-F492-CC22-FB14D18E1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EDE9188-6938-CB0B-2E9C-55366DB0B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noProof="1"/>
              <a:t>Training Materials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6EFF9FC-D63C-ABA8-8478-19FB38AE06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3954" y="2276475"/>
            <a:ext cx="9026916" cy="194765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900" u="sng" noProof="1"/>
              <a:t>Public GitHub Pages</a:t>
            </a:r>
          </a:p>
          <a:p>
            <a:r>
              <a:rPr lang="en-US" sz="3500" noProof="1"/>
              <a:t>Notebooks and files for the sessions</a:t>
            </a:r>
          </a:p>
          <a:p>
            <a:r>
              <a:rPr lang="en-US" sz="4200" i="1" noProof="1">
                <a:solidFill>
                  <a:schemeClr val="accent2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https://scads.github.io/eosc-ssds-2026</a:t>
            </a:r>
            <a:endParaRPr lang="en-US" sz="4200" i="1" noProof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A344B77-5AE7-F7C0-22CC-1833FF10E8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953" y="4224130"/>
            <a:ext cx="9026916" cy="195283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sz="3600" u="sng" noProof="1"/>
              <a:t>Nextcloud Share</a:t>
            </a:r>
            <a:endParaRPr lang="en-US" sz="3600" u="sng" noProof="1"/>
          </a:p>
          <a:p>
            <a:r>
              <a:rPr lang="en-US" sz="3200" noProof="1"/>
              <a:t>Additional helpful resources</a:t>
            </a:r>
          </a:p>
          <a:p>
            <a:r>
              <a:rPr lang="en-US" sz="3900" i="1" noProof="1">
                <a:solidFill>
                  <a:schemeClr val="accent2">
                    <a:lumMod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https://urlr.me/qE92Ny</a:t>
            </a:r>
            <a:endParaRPr lang="en-US" sz="3900" i="1" noProof="1">
              <a:solidFill>
                <a:schemeClr val="accent2">
                  <a:lumMod val="75000"/>
                </a:schemeClr>
              </a:solidFill>
            </a:endParaRPr>
          </a:p>
          <a:p>
            <a:endParaRPr lang="en-US" sz="3200" noProof="1"/>
          </a:p>
          <a:p>
            <a:endParaRPr lang="en-US" sz="3200" noProof="1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00E2230-8748-AF54-51AD-0D48C59B8E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9741" y="6356349"/>
            <a:ext cx="2191389" cy="365125"/>
          </a:xfrm>
        </p:spPr>
        <p:txBody>
          <a:bodyPr/>
          <a:lstStyle/>
          <a:p>
            <a:fld id="{DD6F7F18-D775-4140-8128-5795D730ECEA}" type="datetime4">
              <a:rPr lang="en-US" noProof="1" smtClean="0"/>
              <a:pPr/>
              <a:t>June 9, 2026</a:t>
            </a:fld>
            <a:endParaRPr lang="en-US" noProof="1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D05FBF6-3240-CA3B-3644-03DCBFFDC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1BEB06B-36ED-4173-BB9C-0A7D5536228E}" type="slidenum">
              <a:rPr lang="en-US" noProof="1" smtClean="0"/>
              <a:pPr/>
              <a:t>4</a:t>
            </a:fld>
            <a:endParaRPr lang="en-US" noProof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00E90A-5625-C89F-B13D-532A6A88E9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8262" y="591714"/>
            <a:ext cx="1943218" cy="19476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2B2567-5A91-7EE3-0A25-765154324D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8262" y="4318631"/>
            <a:ext cx="1943218" cy="1943218"/>
          </a:xfrm>
          <a:prstGeom prst="rect">
            <a:avLst/>
          </a:prstGeom>
        </p:spPr>
      </p:pic>
      <p:sp>
        <p:nvSpPr>
          <p:cNvPr id="6" name="Zástupný symbol pro zápatí 4">
            <a:extLst>
              <a:ext uri="{FF2B5EF4-FFF2-40B4-BE49-F238E27FC236}">
                <a16:creationId xmlns:a16="http://schemas.microsoft.com/office/drawing/2014/main" id="{08976A49-16E8-3513-7611-708FBE7A94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57283" y="6356349"/>
            <a:ext cx="68733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noProof="1"/>
              <a:t>EOSC CZ Summer School for Data Stewards 2026</a:t>
            </a:r>
            <a:br>
              <a:rPr lang="en-US" noProof="1"/>
            </a:br>
            <a:r>
              <a:rPr lang="en-US" noProof="1"/>
              <a:t>Python Toolbelt for Data Stewards in JupyterLab</a:t>
            </a:r>
          </a:p>
        </p:txBody>
      </p:sp>
    </p:spTree>
    <p:extLst>
      <p:ext uri="{BB962C8B-B14F-4D97-AF65-F5344CB8AC3E}">
        <p14:creationId xmlns:p14="http://schemas.microsoft.com/office/powerpoint/2010/main" val="1592827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182F3-BB3A-EECE-817C-AD9AA7BC8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D465BF5-79DC-B40E-4A45-D3BAF1D4C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noProof="1"/>
              <a:t>Expectation management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D794063-C28B-9DA9-4F79-0B785F89E2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9741" y="6356349"/>
            <a:ext cx="2191389" cy="365125"/>
          </a:xfrm>
        </p:spPr>
        <p:txBody>
          <a:bodyPr/>
          <a:lstStyle/>
          <a:p>
            <a:fld id="{DD6F7F18-D775-4140-8128-5795D730ECEA}" type="datetime4">
              <a:rPr lang="en-US" noProof="1" smtClean="0"/>
              <a:pPr/>
              <a:t>June 9, 2026</a:t>
            </a:fld>
            <a:endParaRPr lang="en-US" noProof="1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5B4F3CE-92A1-36BF-CBFB-2378B563C4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1BEB06B-36ED-4173-BB9C-0A7D5536228E}" type="slidenum">
              <a:rPr lang="en-US" noProof="1" smtClean="0"/>
              <a:pPr/>
              <a:t>5</a:t>
            </a:fld>
            <a:endParaRPr lang="en-US" noProof="1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0276348-A160-796B-387F-902AAF1E50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4975"/>
          <a:stretch/>
        </p:blipFill>
        <p:spPr>
          <a:xfrm>
            <a:off x="2195837" y="3782112"/>
            <a:ext cx="7800327" cy="2472530"/>
          </a:xfrm>
          <a:prstGeom prst="rect">
            <a:avLst/>
          </a:prstGeom>
          <a:effectLst>
            <a:softEdge rad="160385"/>
          </a:effectLst>
        </p:spPr>
      </p:pic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375F655D-6FD5-7558-1FA4-DD0D96FF74CC}"/>
              </a:ext>
            </a:extLst>
          </p:cNvPr>
          <p:cNvSpPr/>
          <p:nvPr/>
        </p:nvSpPr>
        <p:spPr>
          <a:xfrm>
            <a:off x="552906" y="2943988"/>
            <a:ext cx="2340000" cy="1080000"/>
          </a:xfrm>
          <a:prstGeom prst="wedgeRoundRectCallout">
            <a:avLst>
              <a:gd name="adj1" fmla="val 41779"/>
              <a:gd name="adj2" fmla="val 78850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DE" sz="2000" dirty="0"/>
              <a:t>Python projects and virtual environments</a:t>
            </a:r>
          </a:p>
        </p:txBody>
      </p:sp>
      <p:sp>
        <p:nvSpPr>
          <p:cNvPr id="14" name="Rounded Rectangular Callout 13">
            <a:extLst>
              <a:ext uri="{FF2B5EF4-FFF2-40B4-BE49-F238E27FC236}">
                <a16:creationId xmlns:a16="http://schemas.microsoft.com/office/drawing/2014/main" id="{0660AC80-C133-98DE-AC71-D4CC845DE190}"/>
              </a:ext>
            </a:extLst>
          </p:cNvPr>
          <p:cNvSpPr/>
          <p:nvPr/>
        </p:nvSpPr>
        <p:spPr>
          <a:xfrm>
            <a:off x="3834947" y="3025155"/>
            <a:ext cx="2340000" cy="720000"/>
          </a:xfrm>
          <a:prstGeom prst="wedgeRoundRectCallout">
            <a:avLst>
              <a:gd name="adj1" fmla="val -1066"/>
              <a:gd name="adj2" fmla="val 12106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DE" sz="2000" dirty="0"/>
              <a:t>JupyterLab and notebooks</a:t>
            </a:r>
          </a:p>
        </p:txBody>
      </p:sp>
      <p:sp>
        <p:nvSpPr>
          <p:cNvPr id="15" name="Rounded Rectangular Callout 14">
            <a:extLst>
              <a:ext uri="{FF2B5EF4-FFF2-40B4-BE49-F238E27FC236}">
                <a16:creationId xmlns:a16="http://schemas.microsoft.com/office/drawing/2014/main" id="{32CEA857-2A03-6ED3-AEC7-8DCF82A55FCA}"/>
              </a:ext>
            </a:extLst>
          </p:cNvPr>
          <p:cNvSpPr/>
          <p:nvPr/>
        </p:nvSpPr>
        <p:spPr>
          <a:xfrm>
            <a:off x="6917878" y="3075888"/>
            <a:ext cx="1800000" cy="720000"/>
          </a:xfrm>
          <a:prstGeom prst="wedgeRoundRectCallout">
            <a:avLst>
              <a:gd name="adj1" fmla="val -39144"/>
              <a:gd name="adj2" fmla="val 97568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DE" sz="2000" dirty="0"/>
              <a:t>LLMs and </a:t>
            </a:r>
            <a:br>
              <a:rPr lang="en-DE" sz="2000" dirty="0"/>
            </a:br>
            <a:r>
              <a:rPr lang="en-DE" sz="2000" dirty="0"/>
              <a:t>AI assistants</a:t>
            </a:r>
          </a:p>
        </p:txBody>
      </p:sp>
      <p:sp>
        <p:nvSpPr>
          <p:cNvPr id="16" name="Rounded Rectangular Callout 15">
            <a:extLst>
              <a:ext uri="{FF2B5EF4-FFF2-40B4-BE49-F238E27FC236}">
                <a16:creationId xmlns:a16="http://schemas.microsoft.com/office/drawing/2014/main" id="{4EF16067-BE76-E924-2337-D055E9AA2A32}"/>
              </a:ext>
            </a:extLst>
          </p:cNvPr>
          <p:cNvSpPr/>
          <p:nvPr/>
        </p:nvSpPr>
        <p:spPr>
          <a:xfrm>
            <a:off x="9227094" y="3056538"/>
            <a:ext cx="2412000" cy="1080000"/>
          </a:xfrm>
          <a:prstGeom prst="wedgeRoundRectCallout">
            <a:avLst>
              <a:gd name="adj1" fmla="val -48044"/>
              <a:gd name="adj2" fmla="val 6885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DE" sz="2000" dirty="0"/>
              <a:t>Python programming and libraries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C247EC7-4DC6-CEB1-D604-7033E3192821}"/>
              </a:ext>
            </a:extLst>
          </p:cNvPr>
          <p:cNvCxnSpPr>
            <a:cxnSpLocks/>
          </p:cNvCxnSpPr>
          <p:nvPr/>
        </p:nvCxnSpPr>
        <p:spPr>
          <a:xfrm>
            <a:off x="2530713" y="4453806"/>
            <a:ext cx="1187227" cy="86240"/>
          </a:xfrm>
          <a:prstGeom prst="line">
            <a:avLst/>
          </a:prstGeom>
          <a:ln w="88900">
            <a:solidFill>
              <a:srgbClr val="FF40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F225492-58A2-5D9D-D4AA-FD8A0E9A02EC}"/>
              </a:ext>
            </a:extLst>
          </p:cNvPr>
          <p:cNvCxnSpPr>
            <a:cxnSpLocks/>
          </p:cNvCxnSpPr>
          <p:nvPr/>
        </p:nvCxnSpPr>
        <p:spPr>
          <a:xfrm>
            <a:off x="4709483" y="4499826"/>
            <a:ext cx="932582" cy="0"/>
          </a:xfrm>
          <a:prstGeom prst="line">
            <a:avLst/>
          </a:prstGeom>
          <a:ln w="88900">
            <a:solidFill>
              <a:srgbClr val="FF40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0EA1ADD-75F9-DF27-EF29-1D287ABA7002}"/>
              </a:ext>
            </a:extLst>
          </p:cNvPr>
          <p:cNvCxnSpPr>
            <a:cxnSpLocks/>
          </p:cNvCxnSpPr>
          <p:nvPr/>
        </p:nvCxnSpPr>
        <p:spPr>
          <a:xfrm>
            <a:off x="6499062" y="4476550"/>
            <a:ext cx="1212206" cy="40752"/>
          </a:xfrm>
          <a:prstGeom prst="line">
            <a:avLst/>
          </a:prstGeom>
          <a:ln w="88900">
            <a:solidFill>
              <a:srgbClr val="FF40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721BE63-CF36-FE96-B957-60E44CB8F19D}"/>
              </a:ext>
            </a:extLst>
          </p:cNvPr>
          <p:cNvCxnSpPr>
            <a:cxnSpLocks/>
          </p:cNvCxnSpPr>
          <p:nvPr/>
        </p:nvCxnSpPr>
        <p:spPr>
          <a:xfrm flipV="1">
            <a:off x="8490648" y="4517302"/>
            <a:ext cx="1039978" cy="20549"/>
          </a:xfrm>
          <a:prstGeom prst="line">
            <a:avLst/>
          </a:prstGeom>
          <a:ln w="88900">
            <a:solidFill>
              <a:srgbClr val="FF40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C988D93-6F58-7655-A660-910BA4D5454C}"/>
              </a:ext>
            </a:extLst>
          </p:cNvPr>
          <p:cNvSpPr txBox="1"/>
          <p:nvPr/>
        </p:nvSpPr>
        <p:spPr>
          <a:xfrm>
            <a:off x="436036" y="2143509"/>
            <a:ext cx="1147782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dirty="0"/>
              <a:t>Teaching the fundamentals as a foundation for further independent learning and application.</a:t>
            </a:r>
          </a:p>
        </p:txBody>
      </p:sp>
      <p:sp>
        <p:nvSpPr>
          <p:cNvPr id="3" name="Zástupný symbol pro zápatí 4">
            <a:extLst>
              <a:ext uri="{FF2B5EF4-FFF2-40B4-BE49-F238E27FC236}">
                <a16:creationId xmlns:a16="http://schemas.microsoft.com/office/drawing/2014/main" id="{07F3CCC0-FCC7-6678-2638-23FD91FA83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57283" y="6356349"/>
            <a:ext cx="68733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noProof="1"/>
              <a:t>EOSC CZ Summer School for Data Stewards 2026</a:t>
            </a:r>
            <a:br>
              <a:rPr lang="en-US" noProof="1"/>
            </a:br>
            <a:r>
              <a:rPr lang="en-US" noProof="1"/>
              <a:t>Python Toolbelt for Data Stewards in JupyterLab</a:t>
            </a:r>
          </a:p>
        </p:txBody>
      </p:sp>
    </p:spTree>
    <p:extLst>
      <p:ext uri="{BB962C8B-B14F-4D97-AF65-F5344CB8AC3E}">
        <p14:creationId xmlns:p14="http://schemas.microsoft.com/office/powerpoint/2010/main" val="4211510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4F0CD-0F17-CB0B-C4A2-83B6E50B3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96E05D5-8FCB-78E2-14A9-92799F04E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noProof="1"/>
              <a:t>Learning Objectives Session 2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63F0A74-C95D-7F4A-42DB-10B3D31E4D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0518" y="2276475"/>
            <a:ext cx="11198752" cy="39004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noProof="1"/>
              <a:t>Introduction to Python tools for:</a:t>
            </a:r>
          </a:p>
          <a:p>
            <a:r>
              <a:rPr lang="en-US" sz="2800" b="1" i="1" noProof="1"/>
              <a:t>bia-bob</a:t>
            </a:r>
            <a:r>
              <a:rPr lang="en-US" sz="2800" noProof="1"/>
              <a:t> – AI coding assistant for JupyterLab</a:t>
            </a:r>
          </a:p>
          <a:p>
            <a:r>
              <a:rPr lang="en-US" sz="2800" b="1" i="1" noProof="1"/>
              <a:t>Data validation</a:t>
            </a:r>
            <a:endParaRPr lang="en-US" sz="2800" noProof="1"/>
          </a:p>
          <a:p>
            <a:r>
              <a:rPr lang="en-US" sz="2800" b="1" i="1" noProof="1"/>
              <a:t>Data quality reports</a:t>
            </a:r>
          </a:p>
          <a:p>
            <a:r>
              <a:rPr lang="en-US" sz="2800" b="1" i="1" noProof="1"/>
              <a:t>Data cleaning</a:t>
            </a:r>
          </a:p>
          <a:p>
            <a:r>
              <a:rPr lang="en-US" sz="2800" b="1" i="1" noProof="1"/>
              <a:t>Metadata and data packaging</a:t>
            </a:r>
            <a:endParaRPr lang="en-US" sz="2800" noProof="1"/>
          </a:p>
          <a:p>
            <a:r>
              <a:rPr lang="en-US" sz="2800" i="1" noProof="1"/>
              <a:t>[optional] API use for data deposition (Zenodo sandbox)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EA340D7-525C-B1CA-86C2-512A391B45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9741" y="6356349"/>
            <a:ext cx="2191389" cy="365125"/>
          </a:xfrm>
        </p:spPr>
        <p:txBody>
          <a:bodyPr/>
          <a:lstStyle/>
          <a:p>
            <a:fld id="{DD6F7F18-D775-4140-8128-5795D730ECEA}" type="datetime4">
              <a:rPr lang="en-US" noProof="1" smtClean="0"/>
              <a:pPr/>
              <a:t>June 9, 2026</a:t>
            </a:fld>
            <a:endParaRPr lang="en-US" noProof="1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2763901-A3C2-0A92-E31A-563CEB89DD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1BEB06B-36ED-4173-BB9C-0A7D5536228E}" type="slidenum">
              <a:rPr lang="en-US" noProof="1" smtClean="0"/>
              <a:pPr/>
              <a:t>6</a:t>
            </a:fld>
            <a:endParaRPr lang="en-US" noProof="1"/>
          </a:p>
        </p:txBody>
      </p:sp>
      <p:sp>
        <p:nvSpPr>
          <p:cNvPr id="4" name="Zástupný symbol pro zápatí 4">
            <a:extLst>
              <a:ext uri="{FF2B5EF4-FFF2-40B4-BE49-F238E27FC236}">
                <a16:creationId xmlns:a16="http://schemas.microsoft.com/office/drawing/2014/main" id="{850D646E-87D1-61E7-88C8-2486F4D04B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57283" y="6356349"/>
            <a:ext cx="68733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noProof="1"/>
              <a:t>EOSC CZ Summer School for Data Stewards 2026</a:t>
            </a:r>
            <a:br>
              <a:rPr lang="en-US" noProof="1"/>
            </a:br>
            <a:r>
              <a:rPr lang="en-US" noProof="1"/>
              <a:t>Python Toolbelt for Data Stewards in JupyterLab</a:t>
            </a:r>
          </a:p>
        </p:txBody>
      </p:sp>
    </p:spTree>
    <p:extLst>
      <p:ext uri="{BB962C8B-B14F-4D97-AF65-F5344CB8AC3E}">
        <p14:creationId xmlns:p14="http://schemas.microsoft.com/office/powerpoint/2010/main" val="2877500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745F0-BD16-8E71-9122-8B1118108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614BD28-12ED-9BAF-5820-5D6FB8417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noProof="1"/>
              <a:t>Agenda Session 2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61AA3E6-6B88-7C5E-B7F8-F241C16890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0517" y="2276475"/>
            <a:ext cx="11561741" cy="3900488"/>
          </a:xfrm>
        </p:spPr>
        <p:txBody>
          <a:bodyPr>
            <a:normAutofit/>
          </a:bodyPr>
          <a:lstStyle/>
          <a:p>
            <a:r>
              <a:rPr lang="en-US" sz="2800" b="1" i="1" noProof="1"/>
              <a:t>08:30 – 08:45	Welcome &amp; Introduction</a:t>
            </a:r>
          </a:p>
          <a:p>
            <a:r>
              <a:rPr lang="en-US" sz="2800" b="1" i="1" noProof="1"/>
              <a:t>08:45 – 09:15	Technical Setup Check, uv</a:t>
            </a:r>
          </a:p>
          <a:p>
            <a:r>
              <a:rPr lang="en-US" sz="2800" b="1" i="1" noProof="1"/>
              <a:t>09:15 – 10:00	Toolbelt overview and dataset</a:t>
            </a:r>
          </a:p>
          <a:p>
            <a:r>
              <a:rPr lang="en-US" sz="2800" b="1" i="1" noProof="1"/>
              <a:t>10:00 – 10:30	☕  Coffee Break</a:t>
            </a:r>
          </a:p>
          <a:p>
            <a:r>
              <a:rPr lang="en-US" sz="2800" b="1" i="1" noProof="1"/>
              <a:t>10:30 – 11:30	Tools for data validation, cleaning, reporting, metadata</a:t>
            </a:r>
          </a:p>
          <a:p>
            <a:r>
              <a:rPr lang="en-US" sz="2800" b="1" i="1" noProof="1"/>
              <a:t>11:30 – 11:50	DMP and data deposit [optional]</a:t>
            </a:r>
          </a:p>
          <a:p>
            <a:r>
              <a:rPr lang="en-US" sz="2800" b="1" i="1" noProof="1"/>
              <a:t>11:50 – 12:00	Wrap-Up</a:t>
            </a:r>
            <a:endParaRPr lang="en-US" noProof="1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81D1729-9DF3-88EE-D320-3264B5A19E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9741" y="6356349"/>
            <a:ext cx="2191389" cy="365125"/>
          </a:xfrm>
        </p:spPr>
        <p:txBody>
          <a:bodyPr/>
          <a:lstStyle/>
          <a:p>
            <a:fld id="{DD6F7F18-D775-4140-8128-5795D730ECEA}" type="datetime4">
              <a:rPr lang="en-US" noProof="1" smtClean="0"/>
              <a:pPr/>
              <a:t>June 9, 2026</a:t>
            </a:fld>
            <a:endParaRPr lang="en-US" noProof="1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CEAC710-039C-C7FC-356D-4BFE74DFCE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1BEB06B-36ED-4173-BB9C-0A7D5536228E}" type="slidenum">
              <a:rPr lang="en-US" noProof="1" smtClean="0"/>
              <a:pPr/>
              <a:t>7</a:t>
            </a:fld>
            <a:endParaRPr lang="en-US" noProof="1"/>
          </a:p>
        </p:txBody>
      </p:sp>
      <p:pic>
        <p:nvPicPr>
          <p:cNvPr id="9" name="Graphic 8" descr="Tick with solid fill">
            <a:extLst>
              <a:ext uri="{FF2B5EF4-FFF2-40B4-BE49-F238E27FC236}">
                <a16:creationId xmlns:a16="http://schemas.microsoft.com/office/drawing/2014/main" id="{9EFC8573-A998-7C45-FD8F-C0FDA75FE9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77877" y="2117961"/>
            <a:ext cx="701042" cy="701042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EF82629-9A45-8DDD-C22A-B6858790BD69}"/>
              </a:ext>
            </a:extLst>
          </p:cNvPr>
          <p:cNvSpPr/>
          <p:nvPr/>
        </p:nvSpPr>
        <p:spPr>
          <a:xfrm rot="1055855">
            <a:off x="7882273" y="685268"/>
            <a:ext cx="3968390" cy="21855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Any Questions?</a:t>
            </a:r>
          </a:p>
        </p:txBody>
      </p:sp>
      <p:sp>
        <p:nvSpPr>
          <p:cNvPr id="4" name="Zástupný symbol pro zápatí 4">
            <a:extLst>
              <a:ext uri="{FF2B5EF4-FFF2-40B4-BE49-F238E27FC236}">
                <a16:creationId xmlns:a16="http://schemas.microsoft.com/office/drawing/2014/main" id="{861FF8F8-0F1A-7476-ACF4-4BFB0B9FD8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57283" y="6356349"/>
            <a:ext cx="68733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noProof="1"/>
              <a:t>EOSC CZ Summer School for Data Stewards 2026</a:t>
            </a:r>
            <a:br>
              <a:rPr lang="en-US" noProof="1"/>
            </a:br>
            <a:r>
              <a:rPr lang="en-US" noProof="1"/>
              <a:t>Python Toolbelt for Data Stewards in JupyterLab</a:t>
            </a:r>
          </a:p>
        </p:txBody>
      </p:sp>
    </p:spTree>
    <p:extLst>
      <p:ext uri="{BB962C8B-B14F-4D97-AF65-F5344CB8AC3E}">
        <p14:creationId xmlns:p14="http://schemas.microsoft.com/office/powerpoint/2010/main" val="1689514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3ED28-1B82-7C5C-DC04-BC534D781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1">
            <a:extLst>
              <a:ext uri="{FF2B5EF4-FFF2-40B4-BE49-F238E27FC236}">
                <a16:creationId xmlns:a16="http://schemas.microsoft.com/office/drawing/2014/main" id="{C4078ED4-68BC-6381-504F-E86471F836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520" y="1122363"/>
            <a:ext cx="11520000" cy="2880000"/>
          </a:xfrm>
        </p:spPr>
        <p:txBody>
          <a:bodyPr>
            <a:normAutofit fontScale="90000"/>
          </a:bodyPr>
          <a:lstStyle/>
          <a:p>
            <a:r>
              <a:rPr lang="en-US" sz="4000" b="1" noProof="1">
                <a:latin typeface="Quicksand"/>
              </a:rPr>
              <a:t>EOSC CZ Summer School for Data Stewards 2026</a:t>
            </a:r>
            <a:br>
              <a:rPr lang="en-US" sz="3600" noProof="1">
                <a:latin typeface="Quicksand"/>
              </a:rPr>
            </a:br>
            <a:br>
              <a:rPr lang="en-US" sz="3600" noProof="1">
                <a:latin typeface="Quicksand"/>
              </a:rPr>
            </a:br>
            <a:r>
              <a:rPr lang="en-US" sz="3600" noProof="1">
                <a:latin typeface="Quicksand"/>
              </a:rPr>
              <a:t>Session 2</a:t>
            </a:r>
            <a:br>
              <a:rPr lang="en-US" sz="3600" noProof="1">
                <a:latin typeface="Quicksand"/>
              </a:rPr>
            </a:br>
            <a:r>
              <a:rPr lang="en-US" sz="3800" noProof="1">
                <a:latin typeface="Quicksand"/>
              </a:rPr>
              <a:t>Python Toolbelt for Data Stewards in JupyterLab</a:t>
            </a:r>
            <a:br>
              <a:rPr lang="en-US" sz="3200" noProof="1">
                <a:latin typeface="Quicksand"/>
              </a:rPr>
            </a:br>
            <a:br>
              <a:rPr lang="en-US" sz="3200" noProof="1">
                <a:latin typeface="Quicksand"/>
              </a:rPr>
            </a:br>
            <a:r>
              <a:rPr lang="en-US" sz="4400" b="1" noProof="1">
                <a:latin typeface="Quicksand"/>
              </a:rPr>
              <a:t>Data Steward Pipeline</a:t>
            </a:r>
            <a:endParaRPr lang="en-US" sz="4800" b="1" noProof="1"/>
          </a:p>
        </p:txBody>
      </p:sp>
      <p:sp>
        <p:nvSpPr>
          <p:cNvPr id="2" name="Podnadpis 2">
            <a:extLst>
              <a:ext uri="{FF2B5EF4-FFF2-40B4-BE49-F238E27FC236}">
                <a16:creationId xmlns:a16="http://schemas.microsoft.com/office/drawing/2014/main" id="{00F0AFE4-BB64-A7E6-153F-6B620C39B1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520" y="5023595"/>
            <a:ext cx="10317480" cy="102461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1">
                <a:latin typeface="Quicksand"/>
                <a:ea typeface="Roboto Mediu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Matthias Täschner</a:t>
            </a:r>
            <a:r>
              <a:rPr lang="en-US" noProof="1">
                <a:latin typeface="Quicksand"/>
                <a:ea typeface="Roboto Medium"/>
              </a:rPr>
              <a:t> </a:t>
            </a:r>
            <a:r>
              <a:rPr lang="en-US" noProof="1">
                <a:latin typeface="Glyphter" panose="02000503000000000000" pitchFamily="1" charset="0"/>
                <a:sym typeface="Helvetica"/>
              </a:rPr>
              <a:t>A</a:t>
            </a:r>
          </a:p>
          <a:p>
            <a:r>
              <a:rPr lang="en-US" sz="1800" noProof="1">
                <a:latin typeface="Quicksand" pitchFamily="2" charset="77"/>
                <a:sym typeface="Helvetica"/>
              </a:rPr>
              <a:t>Data Science Center ScaDS.</a:t>
            </a:r>
            <a:r>
              <a:rPr lang="en-US" sz="1800" noProof="1">
                <a:latin typeface="Quicksand" pitchFamily="2" charset="77"/>
              </a:rPr>
              <a:t>AI</a:t>
            </a:r>
            <a:r>
              <a:rPr lang="en-US" sz="1800" noProof="1">
                <a:latin typeface="Quicksand" pitchFamily="2" charset="77"/>
                <a:sym typeface="Helvetica"/>
              </a:rPr>
              <a:t>, Leipzig University, Germany</a:t>
            </a:r>
            <a:endParaRPr lang="en-US" sz="1800" noProof="1">
              <a:latin typeface="Quicks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45841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27649-63F9-9EE7-CD40-0BBFF874A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A0AD0AA-A2D4-1195-83F1-957084EE7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noProof="1"/>
              <a:t>Data Steward Pipeline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AF3D081E-E77A-4740-5A5A-F846F44E3E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9741" y="6356349"/>
            <a:ext cx="2191389" cy="365125"/>
          </a:xfrm>
        </p:spPr>
        <p:txBody>
          <a:bodyPr/>
          <a:lstStyle/>
          <a:p>
            <a:fld id="{DD6F7F18-D775-4140-8128-5795D730ECEA}" type="datetime4">
              <a:rPr lang="en-US" noProof="1" smtClean="0"/>
              <a:pPr/>
              <a:t>June 9, 2026</a:t>
            </a:fld>
            <a:endParaRPr lang="en-US" noProof="1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2F9EC8F-4E63-F673-C406-BA8879ECA5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1BEB06B-36ED-4173-BB9C-0A7D5536228E}" type="slidenum">
              <a:rPr lang="en-US" noProof="1" smtClean="0"/>
              <a:pPr/>
              <a:t>9</a:t>
            </a:fld>
            <a:endParaRPr lang="en-US" noProof="1"/>
          </a:p>
        </p:txBody>
      </p:sp>
      <p:sp>
        <p:nvSpPr>
          <p:cNvPr id="4" name="Zástupný symbol pro zápatí 4">
            <a:extLst>
              <a:ext uri="{FF2B5EF4-FFF2-40B4-BE49-F238E27FC236}">
                <a16:creationId xmlns:a16="http://schemas.microsoft.com/office/drawing/2014/main" id="{D29AF06E-42A1-0784-B393-A8FE94C293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57283" y="6356349"/>
            <a:ext cx="68733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noProof="1"/>
              <a:t>EOSC CZ Summer School for Data Stewards 2026</a:t>
            </a:r>
            <a:br>
              <a:rPr lang="en-US" noProof="1"/>
            </a:br>
            <a:r>
              <a:rPr lang="en-US" noProof="1"/>
              <a:t>Python Toolbelt for Data Stewards in JupyterLab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7D4CDAF-A158-A00D-8C31-4745109F42A9}"/>
              </a:ext>
            </a:extLst>
          </p:cNvPr>
          <p:cNvGrpSpPr/>
          <p:nvPr/>
        </p:nvGrpSpPr>
        <p:grpSpPr>
          <a:xfrm>
            <a:off x="470532" y="2218414"/>
            <a:ext cx="1980000" cy="2315316"/>
            <a:chOff x="470532" y="2435352"/>
            <a:chExt cx="1980000" cy="2315316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325C729C-AF4B-DA12-33AE-D9CA51ABD2EF}"/>
                </a:ext>
              </a:extLst>
            </p:cNvPr>
            <p:cNvSpPr/>
            <p:nvPr/>
          </p:nvSpPr>
          <p:spPr>
            <a:xfrm>
              <a:off x="470532" y="2592259"/>
              <a:ext cx="1980000" cy="2158409"/>
            </a:xfrm>
            <a:prstGeom prst="roundRect">
              <a:avLst>
                <a:gd name="adj" fmla="val 7843"/>
              </a:avLst>
            </a:prstGeom>
            <a:solidFill>
              <a:schemeClr val="accent2">
                <a:lumMod val="20000"/>
                <a:lumOff val="80000"/>
                <a:alpha val="50000"/>
              </a:schemeClr>
            </a:solidFill>
            <a:ln w="254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F9BD499-E04A-60EF-215F-E2FD4681DFD1}"/>
                </a:ext>
              </a:extLst>
            </p:cNvPr>
            <p:cNvSpPr txBox="1"/>
            <p:nvPr/>
          </p:nvSpPr>
          <p:spPr>
            <a:xfrm>
              <a:off x="824781" y="3818257"/>
              <a:ext cx="1271502" cy="8925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/>
                <a:t>Raw data</a:t>
              </a:r>
              <a:br>
                <a:rPr lang="en-US" dirty="0"/>
              </a:br>
              <a:r>
                <a:rPr lang="en-US" sz="1600" dirty="0"/>
                <a:t>Messy CSV </a:t>
              </a:r>
              <a:br>
                <a:rPr lang="en-US" sz="1600" dirty="0"/>
              </a:br>
              <a:r>
                <a:rPr lang="en-US" sz="1600" dirty="0"/>
                <a:t>handover</a:t>
              </a:r>
              <a:endParaRPr lang="en-US" dirty="0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1F7B429-1E3B-7908-28F6-222212A8EA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3250" y="2435352"/>
              <a:ext cx="1794565" cy="1794565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585C15A-4D83-EA39-C471-78A9A75C21B4}"/>
              </a:ext>
            </a:extLst>
          </p:cNvPr>
          <p:cNvGrpSpPr/>
          <p:nvPr/>
        </p:nvGrpSpPr>
        <p:grpSpPr>
          <a:xfrm>
            <a:off x="2809540" y="2349436"/>
            <a:ext cx="1980000" cy="2179840"/>
            <a:chOff x="2809540" y="2566374"/>
            <a:chExt cx="1980000" cy="2179840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66134F00-3F59-BA89-64FA-7A182B8EFC8A}"/>
                </a:ext>
              </a:extLst>
            </p:cNvPr>
            <p:cNvSpPr/>
            <p:nvPr/>
          </p:nvSpPr>
          <p:spPr>
            <a:xfrm>
              <a:off x="2809540" y="2587805"/>
              <a:ext cx="1980000" cy="2158409"/>
            </a:xfrm>
            <a:prstGeom prst="roundRect">
              <a:avLst>
                <a:gd name="adj" fmla="val 7843"/>
              </a:avLst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 w="2540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D9BC2F0-9999-D27D-D412-ED15C23B453C}"/>
                </a:ext>
              </a:extLst>
            </p:cNvPr>
            <p:cNvSpPr txBox="1"/>
            <p:nvPr/>
          </p:nvSpPr>
          <p:spPr>
            <a:xfrm>
              <a:off x="3089250" y="3818257"/>
              <a:ext cx="1420582" cy="8925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/>
                <a:t>Validate</a:t>
              </a:r>
              <a:br>
                <a:rPr lang="en-US" dirty="0"/>
              </a:br>
              <a:r>
                <a:rPr lang="en-US" sz="1600" dirty="0"/>
                <a:t>Schema =</a:t>
              </a:r>
              <a:br>
                <a:rPr lang="en-US" sz="1600" dirty="0"/>
              </a:br>
              <a:r>
                <a:rPr lang="en-US" sz="1600" dirty="0"/>
                <a:t>Data contract</a:t>
              </a:r>
              <a:endParaRPr lang="en-US" dirty="0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5D64CD44-E902-1284-BD50-C12FF267AB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8085" y="2566374"/>
              <a:ext cx="1442910" cy="1442910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C1F3CCE-35FC-E8E4-74CD-BDE4A9846C79}"/>
              </a:ext>
            </a:extLst>
          </p:cNvPr>
          <p:cNvGrpSpPr/>
          <p:nvPr/>
        </p:nvGrpSpPr>
        <p:grpSpPr>
          <a:xfrm>
            <a:off x="5148548" y="2173608"/>
            <a:ext cx="1980000" cy="2360122"/>
            <a:chOff x="5148548" y="2173608"/>
            <a:chExt cx="1980000" cy="2360122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3756C1EF-F63E-64C3-16DE-FDC2CAF8D528}"/>
                </a:ext>
              </a:extLst>
            </p:cNvPr>
            <p:cNvGrpSpPr/>
            <p:nvPr/>
          </p:nvGrpSpPr>
          <p:grpSpPr>
            <a:xfrm>
              <a:off x="5148548" y="2375321"/>
              <a:ext cx="1980000" cy="2158409"/>
              <a:chOff x="5148548" y="2592259"/>
              <a:chExt cx="1980000" cy="2158409"/>
            </a:xfrm>
          </p:grpSpPr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AFE8897C-03EC-62DE-98DC-498CD97CBB5C}"/>
                  </a:ext>
                </a:extLst>
              </p:cNvPr>
              <p:cNvSpPr/>
              <p:nvPr/>
            </p:nvSpPr>
            <p:spPr>
              <a:xfrm>
                <a:off x="5148548" y="2592259"/>
                <a:ext cx="1980000" cy="2158409"/>
              </a:xfrm>
              <a:prstGeom prst="roundRect">
                <a:avLst>
                  <a:gd name="adj" fmla="val 7843"/>
                </a:avLst>
              </a:prstGeom>
              <a:solidFill>
                <a:schemeClr val="accent1">
                  <a:lumMod val="20000"/>
                  <a:lumOff val="80000"/>
                  <a:alpha val="50000"/>
                </a:schemeClr>
              </a:solidFill>
              <a:ln w="2540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04B208A-E430-7A86-EB7B-B73CBC751665}"/>
                  </a:ext>
                </a:extLst>
              </p:cNvPr>
              <p:cNvSpPr txBox="1"/>
              <p:nvPr/>
            </p:nvSpPr>
            <p:spPr>
              <a:xfrm>
                <a:off x="5267960" y="3818257"/>
                <a:ext cx="1741181" cy="892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b="1" dirty="0"/>
                  <a:t>Report</a:t>
                </a:r>
                <a:br>
                  <a:rPr lang="en-US" dirty="0"/>
                </a:br>
                <a:r>
                  <a:rPr lang="en-US" sz="1600" dirty="0"/>
                  <a:t>Basic cleaning &amp; </a:t>
                </a:r>
                <a:br>
                  <a:rPr lang="en-US" sz="1600" dirty="0"/>
                </a:br>
                <a:r>
                  <a:rPr lang="en-US" sz="1600" dirty="0"/>
                  <a:t>Quality report</a:t>
                </a:r>
              </a:p>
            </p:txBody>
          </p:sp>
        </p:grp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03D349D7-7E2F-2F1B-5679-44EE1F698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23175" y="2173608"/>
              <a:ext cx="1794565" cy="1794565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835BDC9-A1D5-B89D-951B-F9AF6E19F584}"/>
              </a:ext>
            </a:extLst>
          </p:cNvPr>
          <p:cNvGrpSpPr/>
          <p:nvPr/>
        </p:nvGrpSpPr>
        <p:grpSpPr>
          <a:xfrm>
            <a:off x="7487556" y="2138992"/>
            <a:ext cx="1980000" cy="2394738"/>
            <a:chOff x="7487556" y="2138992"/>
            <a:chExt cx="1980000" cy="2394738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585969A4-1385-26FC-7B7A-3176AD0F7898}"/>
                </a:ext>
              </a:extLst>
            </p:cNvPr>
            <p:cNvGrpSpPr/>
            <p:nvPr/>
          </p:nvGrpSpPr>
          <p:grpSpPr>
            <a:xfrm>
              <a:off x="7487556" y="2375321"/>
              <a:ext cx="1980000" cy="2158409"/>
              <a:chOff x="7487556" y="2592259"/>
              <a:chExt cx="1980000" cy="2158409"/>
            </a:xfrm>
          </p:grpSpPr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07B04E15-4C05-CED8-24C5-7D31E448DC8E}"/>
                  </a:ext>
                </a:extLst>
              </p:cNvPr>
              <p:cNvSpPr/>
              <p:nvPr/>
            </p:nvSpPr>
            <p:spPr>
              <a:xfrm>
                <a:off x="7487556" y="2592259"/>
                <a:ext cx="1980000" cy="2158409"/>
              </a:xfrm>
              <a:prstGeom prst="roundRect">
                <a:avLst>
                  <a:gd name="adj" fmla="val 7843"/>
                </a:avLst>
              </a:prstGeom>
              <a:solidFill>
                <a:srgbClr val="7030A0">
                  <a:alpha val="10000"/>
                </a:srgbClr>
              </a:solidFill>
              <a:ln w="25400">
                <a:solidFill>
                  <a:srgbClr val="7030A0"/>
                </a:solidFill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1DFBA6A-8966-DBF6-0794-070155AC5A46}"/>
                  </a:ext>
                </a:extLst>
              </p:cNvPr>
              <p:cNvSpPr txBox="1"/>
              <p:nvPr/>
            </p:nvSpPr>
            <p:spPr>
              <a:xfrm>
                <a:off x="7535632" y="3818257"/>
                <a:ext cx="188384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b="1" dirty="0"/>
                  <a:t>Package</a:t>
                </a:r>
                <a:br>
                  <a:rPr lang="en-US" dirty="0"/>
                </a:br>
                <a:r>
                  <a:rPr lang="en-US" sz="1600" dirty="0"/>
                  <a:t>Metadata &amp;</a:t>
                </a:r>
                <a:br>
                  <a:rPr lang="en-US" sz="1600" dirty="0"/>
                </a:br>
                <a:r>
                  <a:rPr lang="en-US" sz="1600" dirty="0"/>
                  <a:t>FAIR data package</a:t>
                </a:r>
              </a:p>
            </p:txBody>
          </p:sp>
        </p:grp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F2769599-6DEC-8C1A-9EAE-6371BE1FD17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40562" y="2138992"/>
              <a:ext cx="1873987" cy="1873987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60C8C65-AB34-3515-51BD-FA0B9ED02509}"/>
              </a:ext>
            </a:extLst>
          </p:cNvPr>
          <p:cNvGrpSpPr/>
          <p:nvPr/>
        </p:nvGrpSpPr>
        <p:grpSpPr>
          <a:xfrm>
            <a:off x="9826564" y="2138992"/>
            <a:ext cx="1980000" cy="2390285"/>
            <a:chOff x="9826564" y="2138992"/>
            <a:chExt cx="1980000" cy="2390285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BBF11397-6971-8039-05AC-F1A9D5EB0610}"/>
                </a:ext>
              </a:extLst>
            </p:cNvPr>
            <p:cNvGrpSpPr/>
            <p:nvPr/>
          </p:nvGrpSpPr>
          <p:grpSpPr>
            <a:xfrm>
              <a:off x="9826564" y="2370868"/>
              <a:ext cx="1980000" cy="2158409"/>
              <a:chOff x="9826564" y="2587806"/>
              <a:chExt cx="1980000" cy="2158409"/>
            </a:xfrm>
          </p:grpSpPr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49A14028-96A2-48BD-3684-E9FD432F957B}"/>
                  </a:ext>
                </a:extLst>
              </p:cNvPr>
              <p:cNvSpPr/>
              <p:nvPr/>
            </p:nvSpPr>
            <p:spPr>
              <a:xfrm>
                <a:off x="9826564" y="2587806"/>
                <a:ext cx="1980000" cy="2158409"/>
              </a:xfrm>
              <a:prstGeom prst="roundRect">
                <a:avLst>
                  <a:gd name="adj" fmla="val 7843"/>
                </a:avLst>
              </a:prstGeom>
              <a:solidFill>
                <a:srgbClr val="00B050">
                  <a:alpha val="10000"/>
                </a:srgbClr>
              </a:solidFill>
              <a:ln w="25400">
                <a:solidFill>
                  <a:srgbClr val="009051"/>
                </a:solidFill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41DB3B1-F7B4-7E28-E949-A1824E266179}"/>
                  </a:ext>
                </a:extLst>
              </p:cNvPr>
              <p:cNvSpPr txBox="1"/>
              <p:nvPr/>
            </p:nvSpPr>
            <p:spPr>
              <a:xfrm>
                <a:off x="9858609" y="3818257"/>
                <a:ext cx="1915909" cy="892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b="1" dirty="0"/>
                  <a:t>DMP &amp; Deposit</a:t>
                </a:r>
                <a:br>
                  <a:rPr lang="en-US" dirty="0"/>
                </a:br>
                <a:r>
                  <a:rPr lang="en-US" sz="1600" dirty="0"/>
                  <a:t>Documented &amp;</a:t>
                </a:r>
                <a:br>
                  <a:rPr lang="en-US" sz="1600" dirty="0"/>
                </a:br>
                <a:r>
                  <a:rPr lang="en-US" sz="1600" dirty="0"/>
                  <a:t>DOI</a:t>
                </a:r>
              </a:p>
            </p:txBody>
          </p:sp>
        </p:grp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990D8AEF-47C7-43FC-10AC-CAABF8F1EC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80526" y="2138992"/>
              <a:ext cx="1873987" cy="1873987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1773600-B282-E9BA-458B-FE712F04A1D7}"/>
              </a:ext>
            </a:extLst>
          </p:cNvPr>
          <p:cNvGrpSpPr/>
          <p:nvPr/>
        </p:nvGrpSpPr>
        <p:grpSpPr>
          <a:xfrm>
            <a:off x="470532" y="4861986"/>
            <a:ext cx="11362536" cy="1072081"/>
            <a:chOff x="444028" y="4957593"/>
            <a:chExt cx="11362536" cy="1072081"/>
          </a:xfrm>
        </p:grpSpPr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C3F36B12-634A-E420-2E69-4D92DB80EBFA}"/>
                </a:ext>
              </a:extLst>
            </p:cNvPr>
            <p:cNvSpPr/>
            <p:nvPr/>
          </p:nvSpPr>
          <p:spPr>
            <a:xfrm>
              <a:off x="470532" y="5015870"/>
              <a:ext cx="11336032" cy="966634"/>
            </a:xfrm>
            <a:prstGeom prst="roundRect">
              <a:avLst>
                <a:gd name="adj" fmla="val 44122"/>
              </a:avLst>
            </a:prstGeom>
            <a:solidFill>
              <a:schemeClr val="accent5">
                <a:lumMod val="25000"/>
              </a:schemeClr>
            </a:solidFill>
            <a:ln w="25400">
              <a:solidFill>
                <a:schemeClr val="accent5">
                  <a:lumMod val="10000"/>
                </a:schemeClr>
              </a:solidFill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7769DAC-AF1C-3712-01FE-CF87DD07FB40}"/>
                </a:ext>
              </a:extLst>
            </p:cNvPr>
            <p:cNvSpPr txBox="1"/>
            <p:nvPr/>
          </p:nvSpPr>
          <p:spPr>
            <a:xfrm>
              <a:off x="1502310" y="5124513"/>
              <a:ext cx="933941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AI Assistant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Drafts the code for each step using the appropriate tools  – you read, run &amp; verify</a:t>
              </a: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7667E761-1280-3A20-36D8-20A12DC1C88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4028" y="4957593"/>
              <a:ext cx="1031778" cy="10720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1009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B024E-9894-05BC-57BA-DA8B4E336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1">
            <a:extLst>
              <a:ext uri="{FF2B5EF4-FFF2-40B4-BE49-F238E27FC236}">
                <a16:creationId xmlns:a16="http://schemas.microsoft.com/office/drawing/2014/main" id="{C3003743-12FD-33E2-8F0F-8D88A081EA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520" y="1122363"/>
            <a:ext cx="11520000" cy="2880000"/>
          </a:xfrm>
        </p:spPr>
        <p:txBody>
          <a:bodyPr>
            <a:normAutofit fontScale="90000"/>
          </a:bodyPr>
          <a:lstStyle/>
          <a:p>
            <a:r>
              <a:rPr lang="en-US" sz="4000" b="1" noProof="1">
                <a:latin typeface="Quicksand"/>
              </a:rPr>
              <a:t>EOSC CZ Summer School for Data Stewards 2026</a:t>
            </a:r>
            <a:br>
              <a:rPr lang="en-US" sz="3600" noProof="1">
                <a:latin typeface="Quicksand"/>
              </a:rPr>
            </a:br>
            <a:br>
              <a:rPr lang="en-US" sz="3600" noProof="1">
                <a:latin typeface="Quicksand"/>
              </a:rPr>
            </a:br>
            <a:r>
              <a:rPr lang="en-US" sz="3600" noProof="1">
                <a:latin typeface="Quicksand"/>
              </a:rPr>
              <a:t>Session 2</a:t>
            </a:r>
            <a:br>
              <a:rPr lang="en-US" sz="3600" noProof="1">
                <a:latin typeface="Quicksand"/>
              </a:rPr>
            </a:br>
            <a:r>
              <a:rPr lang="en-US" sz="3800" noProof="1">
                <a:latin typeface="Quicksand"/>
              </a:rPr>
              <a:t>Python Toolbelt for Data Stewards in JupyterLab</a:t>
            </a:r>
            <a:br>
              <a:rPr lang="en-US" sz="3200" noProof="1">
                <a:latin typeface="Quicksand"/>
              </a:rPr>
            </a:br>
            <a:br>
              <a:rPr lang="en-US" sz="3200" noProof="1">
                <a:latin typeface="Quicksand"/>
              </a:rPr>
            </a:br>
            <a:r>
              <a:rPr lang="en-US" sz="4400" b="1" noProof="1">
                <a:latin typeface="Quicksand"/>
              </a:rPr>
              <a:t>Wrap Up</a:t>
            </a:r>
            <a:endParaRPr lang="en-US" sz="4800" b="1" noProof="1"/>
          </a:p>
        </p:txBody>
      </p:sp>
      <p:sp>
        <p:nvSpPr>
          <p:cNvPr id="2" name="Podnadpis 2">
            <a:extLst>
              <a:ext uri="{FF2B5EF4-FFF2-40B4-BE49-F238E27FC236}">
                <a16:creationId xmlns:a16="http://schemas.microsoft.com/office/drawing/2014/main" id="{BBE8FD05-6B40-651C-3675-486149C02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520" y="5023595"/>
            <a:ext cx="10317480" cy="102461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1">
                <a:latin typeface="Quicksand"/>
                <a:ea typeface="Roboto Mediu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Matthias Täschner</a:t>
            </a:r>
            <a:r>
              <a:rPr lang="en-US" noProof="1">
                <a:latin typeface="Quicksand"/>
                <a:ea typeface="Roboto Medium"/>
              </a:rPr>
              <a:t> </a:t>
            </a:r>
            <a:r>
              <a:rPr lang="en-US" noProof="1">
                <a:latin typeface="Glyphter" panose="02000503000000000000" pitchFamily="1" charset="0"/>
                <a:sym typeface="Helvetica"/>
              </a:rPr>
              <a:t>A</a:t>
            </a:r>
          </a:p>
          <a:p>
            <a:r>
              <a:rPr lang="en-US" sz="1800" noProof="1">
                <a:latin typeface="Quicksand" pitchFamily="2" charset="77"/>
                <a:sym typeface="Helvetica"/>
              </a:rPr>
              <a:t>Data Science Center ScaDS.</a:t>
            </a:r>
            <a:r>
              <a:rPr lang="en-US" sz="1800" noProof="1">
                <a:latin typeface="Quicksand" pitchFamily="2" charset="77"/>
              </a:rPr>
              <a:t>AI</a:t>
            </a:r>
            <a:r>
              <a:rPr lang="en-US" sz="1800" noProof="1">
                <a:latin typeface="Quicksand" pitchFamily="2" charset="77"/>
                <a:sym typeface="Helvetica"/>
              </a:rPr>
              <a:t>, Leipzig University, Germany</a:t>
            </a:r>
            <a:endParaRPr lang="en-US" sz="1800" noProof="1">
              <a:latin typeface="Quicks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594904366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EOSC CZ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8691"/>
      </a:accent1>
      <a:accent2>
        <a:srgbClr val="FF5C80"/>
      </a:accent2>
      <a:accent3>
        <a:srgbClr val="E4E3E3"/>
      </a:accent3>
      <a:accent4>
        <a:srgbClr val="535353"/>
      </a:accent4>
      <a:accent5>
        <a:srgbClr val="D8D8D8"/>
      </a:accent5>
      <a:accent6>
        <a:srgbClr val="3F3F3F"/>
      </a:accent6>
      <a:hlink>
        <a:srgbClr val="000000"/>
      </a:hlink>
      <a:folHlink>
        <a:srgbClr val="FF5C80"/>
      </a:folHlink>
    </a:clrScheme>
    <a:fontScheme name="EOSC">
      <a:majorFont>
        <a:latin typeface="Quicksand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_cz_iniciativa-licence-final-V3-EN.pptx" id="{7A48AC7C-BB23-4CB7-8DFB-25E2D4CF0CC5}" vid="{9B4AD8F7-A824-4EAD-9B5B-72702C547161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a5a631a-9523-4ddb-aeaa-1630ff816cb5">
      <Terms xmlns="http://schemas.microsoft.com/office/infopath/2007/PartnerControls"/>
    </lcf76f155ced4ddcb4097134ff3c332f>
    <TaxCatchAll xmlns="13556fe8-3232-413b-9336-036b48b41d7e" xsi:nil="true"/>
    <hotovo_x003f_ xmlns="0a5a631a-9523-4ddb-aeaa-1630ff816cb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70828419A42BD479A40D9DF94C19A03" ma:contentTypeVersion="17" ma:contentTypeDescription="Vytvoří nový dokument" ma:contentTypeScope="" ma:versionID="5e4baf48c4a463bb4cb1c33487a5df65">
  <xsd:schema xmlns:xsd="http://www.w3.org/2001/XMLSchema" xmlns:xs="http://www.w3.org/2001/XMLSchema" xmlns:p="http://schemas.microsoft.com/office/2006/metadata/properties" xmlns:ns2="0a5a631a-9523-4ddb-aeaa-1630ff816cb5" xmlns:ns3="13556fe8-3232-413b-9336-036b48b41d7e" targetNamespace="http://schemas.microsoft.com/office/2006/metadata/properties" ma:root="true" ma:fieldsID="10fc0582480159263e95be47fa1e1ec8" ns2:_="" ns3:_="">
    <xsd:import namespace="0a5a631a-9523-4ddb-aeaa-1630ff816cb5"/>
    <xsd:import namespace="13556fe8-3232-413b-9336-036b48b41d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Location" minOccurs="0"/>
                <xsd:element ref="ns2:MediaServiceSearchProperties" minOccurs="0"/>
                <xsd:element ref="ns2:hotovo_x003f_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5a631a-9523-4ddb-aeaa-1630ff816c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05144c32-5194-445f-8fa8-b47f4d440b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hotovo_x003f_" ma:index="23" nillable="true" ma:displayName="hotovo?" ma:format="Dropdown" ma:internalName="hotovo_x003f_">
      <xsd:simpleType>
        <xsd:restriction base="dms:Choice">
          <xsd:enumeration value="Volba 1"/>
          <xsd:enumeration value="Volba 2"/>
          <xsd:enumeration value="Volba 3"/>
        </xsd:restriction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556fe8-3232-413b-9336-036b48b41d7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8bfd21b4-195d-4a50-9279-5da02a667bb6}" ma:internalName="TaxCatchAll" ma:showField="CatchAllData" ma:web="13556fe8-3232-413b-9336-036b48b41d7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F0C7F6D-654C-468D-B790-7F5AF53DAE1A}">
  <ds:schemaRefs>
    <ds:schemaRef ds:uri="http://schemas.microsoft.com/office/2006/metadata/properties"/>
    <ds:schemaRef ds:uri="http://schemas.microsoft.com/office/infopath/2007/PartnerControls"/>
    <ds:schemaRef ds:uri="0a5a631a-9523-4ddb-aeaa-1630ff816cb5"/>
    <ds:schemaRef ds:uri="13556fe8-3232-413b-9336-036b48b41d7e"/>
  </ds:schemaRefs>
</ds:datastoreItem>
</file>

<file path=customXml/itemProps2.xml><?xml version="1.0" encoding="utf-8"?>
<ds:datastoreItem xmlns:ds="http://schemas.openxmlformats.org/officeDocument/2006/customXml" ds:itemID="{73677182-B4D9-4732-9855-69FDD6BFA2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5a631a-9523-4ddb-aeaa-1630ff816cb5"/>
    <ds:schemaRef ds:uri="13556fe8-3232-413b-9336-036b48b41d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C13D168-7788-47A8-9181-A1FFB8C173A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Motiv Office</Template>
  <TotalTime>1265</TotalTime>
  <Words>783</Words>
  <Application>Microsoft Macintosh PowerPoint</Application>
  <PresentationFormat>Widescreen</PresentationFormat>
  <Paragraphs>107</Paragraphs>
  <Slides>10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Calibri</vt:lpstr>
      <vt:lpstr>Glyphter</vt:lpstr>
      <vt:lpstr>Roboto</vt:lpstr>
      <vt:lpstr>Quicksand</vt:lpstr>
      <vt:lpstr>Arial</vt:lpstr>
      <vt:lpstr>Roboto Medium</vt:lpstr>
      <vt:lpstr>Motiv Office</vt:lpstr>
      <vt:lpstr>EOSC CZ Summer School for Data Stewards 2026  Session 2 Python Toolbelt for Data Stewards in JupyterLab  Introduction</vt:lpstr>
      <vt:lpstr>About me</vt:lpstr>
      <vt:lpstr>Agenda</vt:lpstr>
      <vt:lpstr>Training Materials</vt:lpstr>
      <vt:lpstr>Expectation management</vt:lpstr>
      <vt:lpstr>Learning Objectives Session 2</vt:lpstr>
      <vt:lpstr>Agenda Session 2</vt:lpstr>
      <vt:lpstr>EOSC CZ Summer School for Data Stewards 2026  Session 2 Python Toolbelt for Data Stewards in JupyterLab  Data Steward Pipeline</vt:lpstr>
      <vt:lpstr>Data Steward Pipeline</vt:lpstr>
      <vt:lpstr>EOSC CZ Summer School for Data Stewards 2026  Session 2 Python Toolbelt for Data Stewards in JupyterLab  Wrap Up</vt:lpstr>
    </vt:vector>
  </TitlesOfParts>
  <Manager/>
  <Company>DSC ScaDS.AI, Leipzig University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EOSC CZ Summer School for Data Stewards 2026</dc:title>
  <dc:subject>JupyterLab, AI Assistant, and Python for Data Stewards</dc:subject>
  <dc:creator>Matthias Täschner</dc:creator>
  <cp:keywords/>
  <dc:description/>
  <cp:lastModifiedBy>Täschner, Matthias</cp:lastModifiedBy>
  <cp:revision>145</cp:revision>
  <dcterms:created xsi:type="dcterms:W3CDTF">2026-04-23T09:14:09Z</dcterms:created>
  <dcterms:modified xsi:type="dcterms:W3CDTF">2026-06-09T05:53:20Z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0x010100970828419A42BD479A40D9DF94C19A03</vt:lpwstr>
  </property>
  <property fmtid="{D5CDD505-2E9C-101B-9397-08002B2CF9AE}" pid="3" name="MediaServiceImageTags">
    <vt:lpwstr/>
  </property>
</Properties>
</file>